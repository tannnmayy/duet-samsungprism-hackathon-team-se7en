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5B6472"/>
                </a:solidFill>
                <a:latin typeface="Arial"/>
              </a:defRPr>
            </a:pPr>
            <a:r>
              <a:rPr sz="1000" b="0" i="0" u="none" strike="noStrike">
                <a:solidFill>
                  <a:srgbClr val="5B6472"/>
                </a:solidFill>
                <a:latin typeface="Arial"/>
              </a:rPr>
              <a:t>pub_05, first clip (large-v3-turbo)</a:t>
            </a:r>
          </a:p>
        </c:rich>
      </c:tx>
      <c:layout/>
      <c:overlay val="0"/>
    </c:title>
    <c:autoTitleDeleted val="0"/>
    <c:plotArea>
      <c:layout/>
      <c:barChart>
        <c:barDir val="col"/>
        <c:grouping val="clustered"/>
        <c:varyColors val="0"/>
        <c:ser>
          <c:idx val="0"/>
          <c:order val="0"/>
          <c:tx>
            <c:strRef>
              <c:f>Sheet1!$B$1</c:f>
              <c:strCache>
                <c:ptCount val="1"/>
                <c:pt idx="0">
                  <c:v>word probability</c:v>
                </c:pt>
              </c:strCache>
            </c:strRef>
          </c:tx>
          <c:spPr>
            <a:solidFill>
              <a:srgbClr val="C9D3E3"/>
            </a:solidFill>
            <a:effectLst/>
          </c:spPr>
          <c:invertIfNegative val="0"/>
          <c:dLbls>
            <c:numFmt formatCode="0.00" sourceLinked="0"/>
            <c:txPr>
              <a:bodyPr/>
              <a:lstStyle/>
              <a:p>
                <a:pPr>
                  <a:defRPr b="0" i="0" strike="noStrike" sz="900" u="none">
                    <a:solidFill>
                      <a:srgbClr val="1F2937"/>
                    </a:solidFill>
                    <a:latin typeface="Arial"/>
                  </a:defRPr>
                </a:pPr>
              </a:p>
            </c:txPr>
            <c:showLegendKey val="0"/>
            <c:showVal val="1"/>
            <c:showCatName val="0"/>
            <c:showSerName val="0"/>
            <c:showPercent val="0"/>
            <c:showBubbleSize val="0"/>
            <c:showLeaderLines val="0"/>
          </c:dLbls>
          <c:cat>
            <c:multiLvlStrRef>
              <c:f>Sheet1!$A$2:$A$8</c:f>
              <c:multiLvlStrCache>
                <c:ptCount val="7"/>
                <c:lvl>
                  <c:pt idx="0">
                    <c:v>I</c:v>
                  </c:pt>
                  <c:pt idx="1">
                    <c:v>broke</c:v>
                  </c:pt>
                  <c:pt idx="2">
                    <c:v>off</c:v>
                  </c:pt>
                  <c:pt idx="3">
                    <c:v>my</c:v>
                  </c:pt>
                  <c:pt idx="4">
                    <c:v>head</c:v>
                  </c:pt>
                  <c:pt idx="5">
                    <c:v>to</c:v>
                  </c:pt>
                  <c:pt idx="6">
                    <c:v>Austin</c:v>
                  </c:pt>
                </c:lvl>
              </c:multiLvlStrCache>
            </c:multiLvlStrRef>
          </c:cat>
          <c:val>
            <c:numRef>
              <c:f>Sheet1!$B$2:$B$8</c:f>
              <c:numCache>
                <c:formatCode>General</c:formatCode>
                <c:ptCount val="7"/>
                <c:pt idx="0">
                  <c:v>0.23</c:v>
                </c:pt>
                <c:pt idx="1">
                  <c:v>0.16</c:v>
                </c:pt>
                <c:pt idx="2">
                  <c:v>0.49</c:v>
                </c:pt>
                <c:pt idx="3">
                  <c:v>0.33</c:v>
                </c:pt>
                <c:pt idx="4">
                  <c:v>0.34</c:v>
                </c:pt>
                <c:pt idx="5">
                  <c:v>0.78</c:v>
                </c:pt>
                <c:pt idx="6">
                  <c:v>0.47</c:v>
                </c:pt>
              </c:numCache>
            </c:numRef>
          </c:val>
        </c:ser>
        <c:dLbls>
          <c:numFmt formatCode="0.00" sourceLinked="0"/>
          <c:txPr>
            <a:bodyPr/>
            <a:lstStyle/>
            <a:p>
              <a:pPr>
                <a:defRPr b="0" i="0" strike="noStrike" sz="9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B6472"/>
                </a:solidFill>
                <a:latin typeface="Arial"/>
              </a:defRPr>
            </a:pPr>
            <a:r>
              <a:rPr sz="1100" b="0" i="0" u="none" strike="noStrike">
                <a:solidFill>
                  <a:srgbClr val="5B6472"/>
                </a:solidFill>
                <a:latin typeface="Arial"/>
              </a:rPr>
              <a:t>Public set, out of 100</a:t>
            </a:r>
          </a:p>
        </c:rich>
      </c:tx>
      <c:layout/>
      <c:overlay val="0"/>
    </c:title>
    <c:autoTitleDeleted val="0"/>
    <c:plotArea>
      <c:layout/>
      <c:barChart>
        <c:barDir val="bar"/>
        <c:grouping val="clustered"/>
        <c:varyColors val="0"/>
        <c:ser>
          <c:idx val="0"/>
          <c:order val="0"/>
          <c:tx>
            <c:strRef>
              <c:f>Sheet1!$B$1</c:f>
              <c:strCache>
                <c:ptCount val="1"/>
                <c:pt idx="0">
                  <c:v>score</c:v>
                </c:pt>
              </c:strCache>
            </c:strRef>
          </c:tx>
          <c:spPr>
            <a:solidFill>
              <a:srgbClr val="C9D3E3"/>
            </a:solidFill>
            <a:effectLst/>
          </c:spPr>
          <c:invertIfNegative val="0"/>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C9D3E3"/>
              </a:solidFill>
              <a:effectLst/>
            </c:spPr>
          </c:dPt>
          <c:dPt>
            <c:idx val="1"/>
            <c:invertIfNegative val="0"/>
            <c:bubble3D val="0"/>
            <c:spPr>
              <a:solidFill>
                <a:srgbClr val="E9A23B"/>
              </a:solidFill>
              <a:effectLst/>
            </c:spPr>
          </c:dPt>
          <c:dPt>
            <c:idx val="2"/>
            <c:invertIfNegative val="0"/>
            <c:bubble3D val="0"/>
            <c:spPr>
              <a:solidFill>
                <a:srgbClr val="2A9D8F"/>
              </a:solidFill>
              <a:effectLst/>
            </c:spPr>
          </c:dPt>
          <c:cat>
            <c:multiLvlStrRef>
              <c:f>Sheet1!$A$2:$A$4</c:f>
              <c:multiLvlStrCache>
                <c:ptCount val="3"/>
                <c:lvl>
                  <c:pt idx="0">
                    <c:v>Kit reference agent (~57)</c:v>
                  </c:pt>
                  <c:pt idx="1">
                    <c:v>DUET, no models</c:v>
                  </c:pt>
                  <c:pt idx="2">
                    <c:v>DUET</c:v>
                  </c:pt>
                </c:lvl>
              </c:multiLvlStrCache>
            </c:multiLvlStrRef>
          </c:cat>
          <c:val>
            <c:numRef>
              <c:f>Sheet1!$B$2:$B$4</c:f>
              <c:numCache>
                <c:formatCode>General</c:formatCode>
                <c:ptCount val="3"/>
                <c:pt idx="0">
                  <c:v>57</c:v>
                </c:pt>
                <c:pt idx="1">
                  <c:v>89.1</c:v>
                </c:pt>
                <c:pt idx="2">
                  <c:v>97.4</c:v>
                </c:pt>
              </c:numCache>
            </c:numRef>
          </c:val>
        </c:ser>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DUET: the Duplex Utterance-Epoch Transaction runtime. A conversation is a duet, not two monologues. The picture is the whole idea: the user changes their mind while work is in flight, and the stale work is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GPT-Live and others solved simultaneous speech. What happens to work already in flight when the user changes their mind is what the 2026 literature is only now benchmarking (Full-Duplex-Bench v3, EchoChain).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map directly onto the scorer: latency, recovery, safety, and the clarification checkpoints plus the quality judge's truthfulness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harness runs our agent on its own event loop: one blocking call delays event delivery and makes the scorer blame us. Every safety rule lives in the emitter once, so it cannot be forgotten at a call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Literature anchors: M1 EchoChain; M2 Act While Thinking and speculative tool calling; M3 Full-Duplex-Bench v3; M4 RelayS2S; M5 the theme's accessibility case; M6 falls out of 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conformance scenario conf_23, scored 100. tools/timeline.py renders it from a live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ten hidden tools arrive only as a schema. A grep test fails the build if any tool name appears in duet/.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confidence thresholds were calibrated on the production GPU model, not just the CPU fallback - the two take different branches on the same clip (finding F17). Vision: finding F18.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produced by a command in the repository, listed in README.md. The only unmet public checkpoint is naming the port in pub_07's photo.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Findings F15-F23 in notes/FINDINGS.md record each defect these found,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FAQ Q24: the jury weighs how a solution could be taken further as a PRISM worklet.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640080"/>
            <a:ext cx="5486400" cy="1005840"/>
          </a:xfrm>
          <a:prstGeom prst="rect">
            <a:avLst/>
          </a:prstGeom>
          <a:noFill/>
          <a:ln/>
        </p:spPr>
        <p:txBody>
          <a:bodyPr wrap="square" lIns="0" tIns="0" rIns="0" bIns="0"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DUET</a:t>
            </a:r>
            <a:endParaRPr lang="en-US" sz="6600" dirty="0"/>
          </a:p>
        </p:txBody>
      </p:sp>
      <p:sp>
        <p:nvSpPr>
          <p:cNvPr id="3" name="Text 1"/>
          <p:cNvSpPr txBox="1"/>
          <p:nvPr/>
        </p:nvSpPr>
        <p:spPr>
          <a:xfrm>
            <a:off x="548640" y="1645920"/>
            <a:ext cx="7772400" cy="548640"/>
          </a:xfrm>
          <a:prstGeom prst="rect">
            <a:avLst/>
          </a:prstGeom>
          <a:noFill/>
          <a:ln/>
        </p:spPr>
        <p:txBody>
          <a:bodyPr wrap="square" lIns="0" tIns="0" rIns="0" bIns="0" rtlCol="0" anchor="t"/>
          <a:lstStyle/>
          <a:p>
            <a:pPr algn="l" indent="0" marL="0">
              <a:buNone/>
            </a:pPr>
            <a:r>
              <a:rPr lang="en-US" sz="2600" dirty="0">
                <a:solidFill>
                  <a:srgbClr val="FFFFFF"/>
                </a:solidFill>
                <a:latin typeface="Calibri" pitchFamily="34" charset="0"/>
                <a:ea typeface="Calibri" pitchFamily="34" charset="-122"/>
                <a:cs typeface="Calibri" pitchFamily="34" charset="-120"/>
              </a:rPr>
              <a:t>Making voice agents safe to interrupt</a:t>
            </a:r>
            <a:endParaRPr lang="en-US" sz="2600" dirty="0"/>
          </a:p>
        </p:txBody>
      </p:sp>
      <p:sp>
        <p:nvSpPr>
          <p:cNvPr id="4" name="Text 2"/>
          <p:cNvSpPr txBox="1"/>
          <p:nvPr/>
        </p:nvSpPr>
        <p:spPr>
          <a:xfrm>
            <a:off x="548640" y="2331720"/>
            <a:ext cx="8046720" cy="320040"/>
          </a:xfrm>
          <a:prstGeom prst="rect">
            <a:avLst/>
          </a:prstGeom>
          <a:noFill/>
          <a:ln/>
        </p:spPr>
        <p:txBody>
          <a:bodyPr wrap="square" lIns="0" tIns="0" rIns="0" bIns="0" rtlCol="0" anchor="t"/>
          <a:lstStyle/>
          <a:p>
            <a:pPr algn="l" indent="0" marL="0">
              <a:buNone/>
            </a:pPr>
            <a:r>
              <a:rPr lang="en-US" sz="1400" dirty="0">
                <a:solidFill>
                  <a:srgbClr val="C9D3E3"/>
                </a:solidFill>
                <a:latin typeface="Calibri" pitchFamily="34" charset="0"/>
                <a:ea typeface="Calibri" pitchFamily="34" charset="-122"/>
                <a:cs typeface="Calibri" pitchFamily="34" charset="-120"/>
              </a:rPr>
              <a:t>Samsung PRISM GenAI Hackathon 3.0  ·  Theme 05: Interruptible Real-Time Agents</a:t>
            </a:r>
            <a:endParaRPr lang="en-US" sz="1400" dirty="0"/>
          </a:p>
        </p:txBody>
      </p:sp>
      <p:sp>
        <p:nvSpPr>
          <p:cNvPr id="5" name="Text 3"/>
          <p:cNvSpPr txBox="1"/>
          <p:nvPr/>
        </p:nvSpPr>
        <p:spPr>
          <a:xfrm>
            <a:off x="548640" y="2651760"/>
            <a:ext cx="8046720" cy="320040"/>
          </a:xfrm>
          <a:prstGeom prst="rect">
            <a:avLst/>
          </a:prstGeom>
          <a:noFill/>
          <a:ln/>
        </p:spPr>
        <p:txBody>
          <a:bodyPr wrap="square" lIns="0" tIns="0" rIns="0" bIns="0" rtlCol="0" anchor="t"/>
          <a:lstStyle/>
          <a:p>
            <a:pPr algn="l" indent="0" marL="0">
              <a:buNone/>
            </a:pPr>
            <a:r>
              <a:rPr lang="en-US" sz="1400" b="1" dirty="0">
                <a:solidFill>
                  <a:srgbClr val="C9D3E3"/>
                </a:solidFill>
                <a:latin typeface="Calibri" pitchFamily="34" charset="0"/>
                <a:ea typeface="Calibri" pitchFamily="34" charset="-122"/>
                <a:cs typeface="Calibri" pitchFamily="34" charset="-120"/>
              </a:rPr>
              <a:t>Team SE7EN  ·  SRM</a:t>
            </a:r>
            <a:endParaRPr lang="en-US" sz="1400" dirty="0"/>
          </a:p>
        </p:txBody>
      </p:sp>
      <p:sp>
        <p:nvSpPr>
          <p:cNvPr id="6" name="Text 4"/>
          <p:cNvSpPr txBox="1"/>
          <p:nvPr/>
        </p:nvSpPr>
        <p:spPr>
          <a:xfrm>
            <a:off x="548640" y="3566160"/>
            <a:ext cx="731520" cy="274320"/>
          </a:xfrm>
          <a:prstGeom prst="rect">
            <a:avLst/>
          </a:prstGeom>
          <a:noFill/>
          <a:ln/>
        </p:spPr>
        <p:txBody>
          <a:bodyPr wrap="square" lIns="0" tIns="0" rIns="0" bIns="0" rtlCol="0" anchor="t"/>
          <a:lstStyle/>
          <a:p>
            <a:pPr algn="l" indent="0" marL="0">
              <a:buNone/>
            </a:pPr>
            <a:r>
              <a:rPr lang="en-US" sz="1000" dirty="0">
                <a:solidFill>
                  <a:srgbClr val="C9D3E3"/>
                </a:solidFill>
                <a:latin typeface="Calibri" pitchFamily="34" charset="0"/>
                <a:ea typeface="Calibri" pitchFamily="34" charset="-122"/>
                <a:cs typeface="Calibri" pitchFamily="34" charset="-120"/>
              </a:rPr>
              <a:t>user</a:t>
            </a:r>
            <a:endParaRPr lang="en-US" sz="1000" dirty="0"/>
          </a:p>
        </p:txBody>
      </p:sp>
      <p:sp>
        <p:nvSpPr>
          <p:cNvPr id="7" name="Text 5"/>
          <p:cNvSpPr txBox="1"/>
          <p:nvPr/>
        </p:nvSpPr>
        <p:spPr>
          <a:xfrm>
            <a:off x="548640" y="4069080"/>
            <a:ext cx="731520" cy="274320"/>
          </a:xfrm>
          <a:prstGeom prst="rect">
            <a:avLst/>
          </a:prstGeom>
          <a:noFill/>
          <a:ln/>
        </p:spPr>
        <p:txBody>
          <a:bodyPr wrap="square" lIns="0" tIns="0" rIns="0" bIns="0" rtlCol="0" anchor="t"/>
          <a:lstStyle/>
          <a:p>
            <a:pPr algn="l" indent="0" marL="0">
              <a:buNone/>
            </a:pPr>
            <a:r>
              <a:rPr lang="en-US" sz="1000" dirty="0">
                <a:solidFill>
                  <a:srgbClr val="C9D3E3"/>
                </a:solidFill>
                <a:latin typeface="Calibri" pitchFamily="34" charset="0"/>
                <a:ea typeface="Calibri" pitchFamily="34" charset="-122"/>
                <a:cs typeface="Calibri" pitchFamily="34" charset="-120"/>
              </a:rPr>
              <a:t>tools</a:t>
            </a:r>
            <a:endParaRPr lang="en-US" sz="1000" dirty="0"/>
          </a:p>
        </p:txBody>
      </p:sp>
      <p:sp>
        <p:nvSpPr>
          <p:cNvPr id="8" name="Shape 6"/>
          <p:cNvSpPr/>
          <p:nvPr/>
        </p:nvSpPr>
        <p:spPr>
          <a:xfrm>
            <a:off x="1764792" y="3621024"/>
            <a:ext cx="128016" cy="128016"/>
          </a:xfrm>
          <a:prstGeom prst="ellipse">
            <a:avLst/>
          </a:prstGeom>
          <a:solidFill>
            <a:srgbClr val="8FB0E6"/>
          </a:solidFill>
          <a:ln w="12700">
            <a:solidFill>
              <a:srgbClr val="8FB0E6"/>
            </a:solidFill>
            <a:prstDash val="solid"/>
          </a:ln>
        </p:spPr>
      </p:sp>
      <p:sp>
        <p:nvSpPr>
          <p:cNvPr id="9" name="Shape 7"/>
          <p:cNvSpPr/>
          <p:nvPr/>
        </p:nvSpPr>
        <p:spPr>
          <a:xfrm>
            <a:off x="4672584" y="3602736"/>
            <a:ext cx="164592" cy="164592"/>
          </a:xfrm>
          <a:prstGeom prst="ellipse">
            <a:avLst/>
          </a:prstGeom>
          <a:solidFill>
            <a:srgbClr val="D8472C"/>
          </a:solidFill>
          <a:ln w="12700">
            <a:solidFill>
              <a:srgbClr val="D8472C"/>
            </a:solidFill>
            <a:prstDash val="solid"/>
          </a:ln>
        </p:spPr>
      </p:sp>
      <p:sp>
        <p:nvSpPr>
          <p:cNvPr id="10" name="Shape 8"/>
          <p:cNvSpPr/>
          <p:nvPr/>
        </p:nvSpPr>
        <p:spPr>
          <a:xfrm>
            <a:off x="1828800" y="4023360"/>
            <a:ext cx="2926080" cy="237744"/>
          </a:xfrm>
          <a:prstGeom prst="roundRect">
            <a:avLst>
              <a:gd name="adj" fmla="val 23077"/>
            </a:avLst>
          </a:prstGeom>
          <a:solidFill>
            <a:srgbClr val="FFFFFF">
              <a:alpha val="0"/>
            </a:srgbClr>
          </a:solidFill>
          <a:ln w="22225">
            <a:solidFill>
              <a:srgbClr val="D8472C"/>
            </a:solidFill>
            <a:prstDash val="dash"/>
          </a:ln>
        </p:spPr>
      </p:sp>
      <p:sp>
        <p:nvSpPr>
          <p:cNvPr id="11" name="Text 9"/>
          <p:cNvSpPr txBox="1"/>
          <p:nvPr/>
        </p:nvSpPr>
        <p:spPr>
          <a:xfrm>
            <a:off x="1883664" y="4023360"/>
            <a:ext cx="2926080" cy="237744"/>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  search(Boston)</a:t>
            </a:r>
            <a:endParaRPr lang="en-US" sz="950" dirty="0"/>
          </a:p>
        </p:txBody>
      </p:sp>
      <p:sp>
        <p:nvSpPr>
          <p:cNvPr id="12" name="Shape 10"/>
          <p:cNvSpPr/>
          <p:nvPr/>
        </p:nvSpPr>
        <p:spPr>
          <a:xfrm>
            <a:off x="4892040" y="4023360"/>
            <a:ext cx="2651760" cy="237744"/>
          </a:xfrm>
          <a:prstGeom prst="roundRect">
            <a:avLst>
              <a:gd name="adj" fmla="val 23077"/>
            </a:avLst>
          </a:prstGeom>
          <a:solidFill>
            <a:srgbClr val="2A9D8F"/>
          </a:solidFill>
          <a:ln w="12700">
            <a:solidFill>
              <a:srgbClr val="2A9D8F"/>
            </a:solidFill>
            <a:prstDash val="solid"/>
          </a:ln>
        </p:spPr>
      </p:sp>
      <p:sp>
        <p:nvSpPr>
          <p:cNvPr id="13" name="Text 11"/>
          <p:cNvSpPr txBox="1"/>
          <p:nvPr/>
        </p:nvSpPr>
        <p:spPr>
          <a:xfrm>
            <a:off x="4946904" y="4023360"/>
            <a:ext cx="2651760" cy="237744"/>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  search(New York)</a:t>
            </a:r>
            <a:endParaRPr lang="en-US" sz="950" dirty="0"/>
          </a:p>
        </p:txBody>
      </p:sp>
      <p:sp>
        <p:nvSpPr>
          <p:cNvPr id="14" name="Shape 12"/>
          <p:cNvSpPr/>
          <p:nvPr/>
        </p:nvSpPr>
        <p:spPr>
          <a:xfrm>
            <a:off x="4754880" y="3474720"/>
            <a:ext cx="0" cy="1005840"/>
          </a:xfrm>
          <a:prstGeom prst="line">
            <a:avLst/>
          </a:prstGeom>
          <a:noFill/>
          <a:ln w="15875">
            <a:solidFill>
              <a:srgbClr val="D8472C"/>
            </a:solidFill>
            <a:prstDash val="dash"/>
          </a:ln>
        </p:spPr>
      </p:sp>
      <p:sp>
        <p:nvSpPr>
          <p:cNvPr id="15" name="Text 13"/>
          <p:cNvSpPr txBox="1"/>
          <p:nvPr/>
        </p:nvSpPr>
        <p:spPr>
          <a:xfrm>
            <a:off x="4846320" y="3502152"/>
            <a:ext cx="3200400" cy="274320"/>
          </a:xfrm>
          <a:prstGeom prst="rect">
            <a:avLst/>
          </a:prstGeom>
          <a:noFill/>
          <a:ln/>
        </p:spPr>
        <p:txBody>
          <a:bodyPr wrap="square" lIns="0" tIns="0" rIns="0" bIns="0" rtlCol="0" anchor="t"/>
          <a:lstStyle/>
          <a:p>
            <a:pPr algn="l" indent="0" marL="0">
              <a:buNone/>
            </a:pPr>
            <a:r>
              <a:rPr lang="en-US" sz="1050" i="1" dirty="0">
                <a:solidFill>
                  <a:srgbClr val="FFFFFF"/>
                </a:solidFill>
                <a:latin typeface="Calibri" pitchFamily="34" charset="0"/>
                <a:ea typeface="Calibri" pitchFamily="34" charset="-122"/>
                <a:cs typeface="Calibri" pitchFamily="34" charset="-120"/>
              </a:rPr>
              <a:t>"wait - make it New York"</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t"/>
          <a:lstStyle/>
          <a:p>
            <a:pPr indent="0" marL="0">
              <a:buNone/>
            </a:pPr>
            <a:r>
              <a:rPr lang="en-US" sz="2800" b="1" dirty="0">
                <a:solidFill>
                  <a:srgbClr val="14213D"/>
                </a:solidFill>
                <a:latin typeface="Cambria" pitchFamily="34" charset="0"/>
                <a:ea typeface="Cambria" pitchFamily="34" charset="-122"/>
                <a:cs typeface="Cambria" pitchFamily="34" charset="-120"/>
              </a:rPr>
              <a:t>Full-duplex speech is solved. Full-duplex action is not.</a:t>
            </a:r>
            <a:endParaRPr lang="en-US" sz="2800" dirty="0"/>
          </a:p>
        </p:txBody>
      </p:sp>
      <p:sp>
        <p:nvSpPr>
          <p:cNvPr id="3" name="Shape 1"/>
          <p:cNvSpPr/>
          <p:nvPr/>
        </p:nvSpPr>
        <p:spPr>
          <a:xfrm>
            <a:off x="457200" y="1234440"/>
            <a:ext cx="384048" cy="384048"/>
          </a:xfrm>
          <a:prstGeom prst="ellipse">
            <a:avLst/>
          </a:prstGeom>
          <a:solidFill>
            <a:srgbClr val="14213D"/>
          </a:solidFill>
          <a:ln w="12700">
            <a:solidFill>
              <a:srgbClr val="14213D"/>
            </a:solidFill>
            <a:prstDash val="solid"/>
          </a:ln>
        </p:spPr>
      </p:sp>
      <p:sp>
        <p:nvSpPr>
          <p:cNvPr id="4" name="Text 2"/>
          <p:cNvSpPr txBox="1"/>
          <p:nvPr/>
        </p:nvSpPr>
        <p:spPr>
          <a:xfrm>
            <a:off x="457200" y="12344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5" name="Text 3"/>
          <p:cNvSpPr txBox="1"/>
          <p:nvPr/>
        </p:nvSpPr>
        <p:spPr>
          <a:xfrm>
            <a:off x="1005840" y="1216152"/>
            <a:ext cx="3931920" cy="320040"/>
          </a:xfrm>
          <a:prstGeom prst="rect">
            <a:avLst/>
          </a:prstGeom>
          <a:noFill/>
          <a:ln/>
        </p:spPr>
        <p:txBody>
          <a:bodyPr wrap="square" lIns="0" tIns="0" rIns="0" bIns="0" rtlCol="0" anchor="t"/>
          <a:lstStyle/>
          <a:p>
            <a:pPr algn="l" indent="0" marL="0">
              <a:buNone/>
            </a:pPr>
            <a:r>
              <a:rPr lang="en-US" sz="1600" b="1" dirty="0">
                <a:solidFill>
                  <a:srgbClr val="14213D"/>
                </a:solidFill>
                <a:latin typeface="Calibri" pitchFamily="34" charset="0"/>
                <a:ea typeface="Calibri" pitchFamily="34" charset="-122"/>
                <a:cs typeface="Calibri" pitchFamily="34" charset="-120"/>
              </a:rPr>
              <a:t>"Book a flight to Boston"</a:t>
            </a:r>
            <a:endParaRPr lang="en-US" sz="1600" dirty="0"/>
          </a:p>
        </p:txBody>
      </p:sp>
      <p:sp>
        <p:nvSpPr>
          <p:cNvPr id="6" name="Text 4"/>
          <p:cNvSpPr txBox="1"/>
          <p:nvPr/>
        </p:nvSpPr>
        <p:spPr>
          <a:xfrm>
            <a:off x="1005840" y="1545336"/>
            <a:ext cx="3931920" cy="502920"/>
          </a:xfrm>
          <a:prstGeom prst="rect">
            <a:avLst/>
          </a:prstGeom>
          <a:noFill/>
          <a:ln/>
        </p:spPr>
        <p:txBody>
          <a:bodyPr wrap="square" lIns="0" tIns="0" rIns="0" bIns="0" rtlCol="0" anchor="t"/>
          <a:lstStyle/>
          <a:p>
            <a:pPr algn="l" indent="0" marL="0">
              <a:buNone/>
            </a:pPr>
            <a:r>
              <a:rPr lang="en-US" sz="1300" dirty="0">
                <a:solidFill>
                  <a:srgbClr val="5B6472"/>
                </a:solidFill>
                <a:latin typeface="Calibri" pitchFamily="34" charset="0"/>
                <a:ea typeface="Calibri" pitchFamily="34" charset="-122"/>
                <a:cs typeface="Calibri" pitchFamily="34" charset="-120"/>
              </a:rPr>
              <a:t>The agent starts searching - and may go on to book.</a:t>
            </a:r>
            <a:endParaRPr lang="en-US" sz="1300" dirty="0"/>
          </a:p>
        </p:txBody>
      </p:sp>
      <p:sp>
        <p:nvSpPr>
          <p:cNvPr id="7" name="Shape 5"/>
          <p:cNvSpPr/>
          <p:nvPr/>
        </p:nvSpPr>
        <p:spPr>
          <a:xfrm>
            <a:off x="457200" y="2194560"/>
            <a:ext cx="384048" cy="384048"/>
          </a:xfrm>
          <a:prstGeom prst="ellipse">
            <a:avLst/>
          </a:prstGeom>
          <a:solidFill>
            <a:srgbClr val="14213D"/>
          </a:solidFill>
          <a:ln w="12700">
            <a:solidFill>
              <a:srgbClr val="14213D"/>
            </a:solidFill>
            <a:prstDash val="solid"/>
          </a:ln>
        </p:spPr>
      </p:sp>
      <p:sp>
        <p:nvSpPr>
          <p:cNvPr id="8" name="Text 6"/>
          <p:cNvSpPr txBox="1"/>
          <p:nvPr/>
        </p:nvSpPr>
        <p:spPr>
          <a:xfrm>
            <a:off x="457200" y="21945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Text 7"/>
          <p:cNvSpPr txBox="1"/>
          <p:nvPr/>
        </p:nvSpPr>
        <p:spPr>
          <a:xfrm>
            <a:off x="1005840" y="2176272"/>
            <a:ext cx="3931920" cy="320040"/>
          </a:xfrm>
          <a:prstGeom prst="rect">
            <a:avLst/>
          </a:prstGeom>
          <a:noFill/>
          <a:ln/>
        </p:spPr>
        <p:txBody>
          <a:bodyPr wrap="square" lIns="0" tIns="0" rIns="0" bIns="0" rtlCol="0" anchor="t"/>
          <a:lstStyle/>
          <a:p>
            <a:pPr algn="l" indent="0" marL="0">
              <a:buNone/>
            </a:pPr>
            <a:r>
              <a:rPr lang="en-US" sz="1600" b="1" dirty="0">
                <a:solidFill>
                  <a:srgbClr val="14213D"/>
                </a:solidFill>
                <a:latin typeface="Calibri" pitchFamily="34" charset="0"/>
                <a:ea typeface="Calibri" pitchFamily="34" charset="-122"/>
                <a:cs typeface="Calibri" pitchFamily="34" charset="-120"/>
              </a:rPr>
              <a:t>"Wait - make it New York"</a:t>
            </a:r>
            <a:endParaRPr lang="en-US" sz="1600" dirty="0"/>
          </a:p>
        </p:txBody>
      </p:sp>
      <p:sp>
        <p:nvSpPr>
          <p:cNvPr id="10" name="Text 8"/>
          <p:cNvSpPr txBox="1"/>
          <p:nvPr/>
        </p:nvSpPr>
        <p:spPr>
          <a:xfrm>
            <a:off x="1005840" y="2505456"/>
            <a:ext cx="3931920" cy="502920"/>
          </a:xfrm>
          <a:prstGeom prst="rect">
            <a:avLst/>
          </a:prstGeom>
          <a:noFill/>
          <a:ln/>
        </p:spPr>
        <p:txBody>
          <a:bodyPr wrap="square" lIns="0" tIns="0" rIns="0" bIns="0" rtlCol="0" anchor="t"/>
          <a:lstStyle/>
          <a:p>
            <a:pPr algn="l" indent="0" marL="0">
              <a:buNone/>
            </a:pPr>
            <a:r>
              <a:rPr lang="en-US" sz="1300" dirty="0">
                <a:solidFill>
                  <a:srgbClr val="5B6472"/>
                </a:solidFill>
                <a:latin typeface="Calibri" pitchFamily="34" charset="0"/>
                <a:ea typeface="Calibri" pitchFamily="34" charset="-122"/>
                <a:cs typeface="Calibri" pitchFamily="34" charset="-120"/>
              </a:rPr>
              <a:t>The user changes their mind while that work is in flight.</a:t>
            </a:r>
            <a:endParaRPr lang="en-US" sz="1300" dirty="0"/>
          </a:p>
        </p:txBody>
      </p:sp>
      <p:sp>
        <p:nvSpPr>
          <p:cNvPr id="11" name="Shape 9"/>
          <p:cNvSpPr/>
          <p:nvPr/>
        </p:nvSpPr>
        <p:spPr>
          <a:xfrm>
            <a:off x="457200" y="3154680"/>
            <a:ext cx="384048" cy="384048"/>
          </a:xfrm>
          <a:prstGeom prst="ellipse">
            <a:avLst/>
          </a:prstGeom>
          <a:solidFill>
            <a:srgbClr val="D8472C"/>
          </a:solidFill>
          <a:ln w="12700">
            <a:solidFill>
              <a:srgbClr val="D8472C"/>
            </a:solidFill>
            <a:prstDash val="solid"/>
          </a:ln>
        </p:spPr>
      </p:sp>
      <p:sp>
        <p:nvSpPr>
          <p:cNvPr id="12" name="Text 10"/>
          <p:cNvSpPr txBox="1"/>
          <p:nvPr/>
        </p:nvSpPr>
        <p:spPr>
          <a:xfrm>
            <a:off x="457200" y="31546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005840" y="3136392"/>
            <a:ext cx="3931920" cy="320040"/>
          </a:xfrm>
          <a:prstGeom prst="rect">
            <a:avLst/>
          </a:prstGeom>
          <a:noFill/>
          <a:ln/>
        </p:spPr>
        <p:txBody>
          <a:bodyPr wrap="square" lIns="0" tIns="0" rIns="0" bIns="0" rtlCol="0" anchor="t"/>
          <a:lstStyle/>
          <a:p>
            <a:pPr algn="l" indent="0" marL="0">
              <a:buNone/>
            </a:pPr>
            <a:r>
              <a:rPr lang="en-US" sz="1600" b="1" dirty="0">
                <a:solidFill>
                  <a:srgbClr val="14213D"/>
                </a:solidFill>
                <a:latin typeface="Calibri" pitchFamily="34" charset="0"/>
                <a:ea typeface="Calibri" pitchFamily="34" charset="-122"/>
                <a:cs typeface="Calibri" pitchFamily="34" charset="-120"/>
              </a:rPr>
              <a:t>Without coordination</a:t>
            </a:r>
            <a:endParaRPr lang="en-US" sz="1600" dirty="0"/>
          </a:p>
        </p:txBody>
      </p:sp>
      <p:sp>
        <p:nvSpPr>
          <p:cNvPr id="14" name="Text 12"/>
          <p:cNvSpPr txBox="1"/>
          <p:nvPr/>
        </p:nvSpPr>
        <p:spPr>
          <a:xfrm>
            <a:off x="1005840" y="3465576"/>
            <a:ext cx="3931920" cy="502920"/>
          </a:xfrm>
          <a:prstGeom prst="rect">
            <a:avLst/>
          </a:prstGeom>
          <a:noFill/>
          <a:ln/>
        </p:spPr>
        <p:txBody>
          <a:bodyPr wrap="square" lIns="0" tIns="0" rIns="0" bIns="0" rtlCol="0" anchor="t"/>
          <a:lstStyle/>
          <a:p>
            <a:pPr algn="l" indent="0" marL="0">
              <a:buNone/>
            </a:pPr>
            <a:r>
              <a:rPr lang="en-US" sz="1300" dirty="0">
                <a:solidFill>
                  <a:srgbClr val="5B6472"/>
                </a:solidFill>
                <a:latin typeface="Calibri" pitchFamily="34" charset="0"/>
                <a:ea typeface="Calibri" pitchFamily="34" charset="-122"/>
                <a:cs typeface="Calibri" pitchFamily="34" charset="-120"/>
              </a:rPr>
              <a:t>The Boston result is still spoken; a booking can still commit - or commit twice.</a:t>
            </a:r>
            <a:endParaRPr lang="en-US" sz="1300" dirty="0"/>
          </a:p>
        </p:txBody>
      </p:sp>
      <p:sp>
        <p:nvSpPr>
          <p:cNvPr id="15" name="Shape 13"/>
          <p:cNvSpPr/>
          <p:nvPr/>
        </p:nvSpPr>
        <p:spPr>
          <a:xfrm>
            <a:off x="5212080" y="1188720"/>
            <a:ext cx="3474720" cy="2743200"/>
          </a:xfrm>
          <a:prstGeom prst="roundRect">
            <a:avLst>
              <a:gd name="adj" fmla="val 2667"/>
            </a:avLst>
          </a:prstGeom>
          <a:solidFill>
            <a:srgbClr val="F1F4F8"/>
          </a:solidFill>
          <a:ln w="12700">
            <a:solidFill>
              <a:srgbClr val="F1F4F8"/>
            </a:solidFill>
            <a:prstDash val="solid"/>
          </a:ln>
        </p:spPr>
      </p:sp>
      <p:sp>
        <p:nvSpPr>
          <p:cNvPr id="16" name="Text 14"/>
          <p:cNvSpPr txBox="1"/>
          <p:nvPr/>
        </p:nvSpPr>
        <p:spPr>
          <a:xfrm>
            <a:off x="5440680" y="1325880"/>
            <a:ext cx="3108960" cy="274320"/>
          </a:xfrm>
          <a:prstGeom prst="rect">
            <a:avLst/>
          </a:prstGeom>
          <a:noFill/>
          <a:ln/>
        </p:spPr>
        <p:txBody>
          <a:bodyPr wrap="square" lIns="0" tIns="0" rIns="0" bIns="0" rtlCol="0" anchor="t"/>
          <a:lstStyle/>
          <a:p>
            <a:pPr algn="l" indent="0" marL="0">
              <a:buNone/>
            </a:pPr>
            <a:r>
              <a:rPr lang="en-US" sz="1100" b="1" dirty="0">
                <a:solidFill>
                  <a:srgbClr val="5B6472"/>
                </a:solidFill>
                <a:latin typeface="Calibri" pitchFamily="34" charset="0"/>
                <a:ea typeface="Calibri" pitchFamily="34" charset="-122"/>
                <a:cs typeface="Calibri" pitchFamily="34" charset="-120"/>
              </a:rPr>
              <a:t>work already in flight</a:t>
            </a:r>
            <a:endParaRPr lang="en-US" sz="1100" dirty="0"/>
          </a:p>
        </p:txBody>
      </p:sp>
      <p:sp>
        <p:nvSpPr>
          <p:cNvPr id="17" name="Shape 15"/>
          <p:cNvSpPr/>
          <p:nvPr/>
        </p:nvSpPr>
        <p:spPr>
          <a:xfrm>
            <a:off x="6675120" y="1691640"/>
            <a:ext cx="0" cy="1737360"/>
          </a:xfrm>
          <a:prstGeom prst="line">
            <a:avLst/>
          </a:prstGeom>
          <a:noFill/>
          <a:ln w="15875">
            <a:solidFill>
              <a:srgbClr val="D8472C"/>
            </a:solidFill>
            <a:prstDash val="dash"/>
          </a:ln>
        </p:spPr>
      </p:sp>
      <p:sp>
        <p:nvSpPr>
          <p:cNvPr id="18" name="Text 16"/>
          <p:cNvSpPr txBox="1"/>
          <p:nvPr/>
        </p:nvSpPr>
        <p:spPr>
          <a:xfrm>
            <a:off x="6729984" y="1673352"/>
            <a:ext cx="1463040" cy="274320"/>
          </a:xfrm>
          <a:prstGeom prst="rect">
            <a:avLst/>
          </a:prstGeom>
          <a:noFill/>
          <a:ln/>
        </p:spPr>
        <p:txBody>
          <a:bodyPr wrap="square" lIns="0" tIns="0" rIns="0" bIns="0" rtlCol="0" anchor="t"/>
          <a:lstStyle/>
          <a:p>
            <a:pPr algn="l" indent="0" marL="0">
              <a:buNone/>
            </a:pPr>
            <a:r>
              <a:rPr lang="en-US" sz="1000" b="1" dirty="0">
                <a:solidFill>
                  <a:srgbClr val="D8472C"/>
                </a:solidFill>
                <a:latin typeface="Calibri" pitchFamily="34" charset="0"/>
                <a:ea typeface="Calibri" pitchFamily="34" charset="-122"/>
                <a:cs typeface="Calibri" pitchFamily="34" charset="-120"/>
              </a:rPr>
              <a:t>interruption</a:t>
            </a:r>
            <a:endParaRPr lang="en-US" sz="1000" dirty="0"/>
          </a:p>
        </p:txBody>
      </p:sp>
      <p:sp>
        <p:nvSpPr>
          <p:cNvPr id="19" name="Shape 17"/>
          <p:cNvSpPr/>
          <p:nvPr/>
        </p:nvSpPr>
        <p:spPr>
          <a:xfrm>
            <a:off x="5440680" y="2103120"/>
            <a:ext cx="2926080" cy="237744"/>
          </a:xfrm>
          <a:prstGeom prst="roundRect">
            <a:avLst>
              <a:gd name="adj" fmla="val 23077"/>
            </a:avLst>
          </a:prstGeom>
          <a:solidFill>
            <a:srgbClr val="FFFFFF">
              <a:alpha val="0"/>
            </a:srgbClr>
          </a:solidFill>
          <a:ln w="22225">
            <a:solidFill>
              <a:srgbClr val="D8472C"/>
            </a:solidFill>
            <a:prstDash val="dash"/>
          </a:ln>
        </p:spPr>
      </p:sp>
      <p:sp>
        <p:nvSpPr>
          <p:cNvPr id="20" name="Text 18"/>
          <p:cNvSpPr txBox="1"/>
          <p:nvPr/>
        </p:nvSpPr>
        <p:spPr>
          <a:xfrm>
            <a:off x="5495544" y="2103120"/>
            <a:ext cx="2926080" cy="237744"/>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  search(Boston)</a:t>
            </a:r>
            <a:endParaRPr lang="en-US" sz="950" dirty="0"/>
          </a:p>
        </p:txBody>
      </p:sp>
      <p:sp>
        <p:nvSpPr>
          <p:cNvPr id="21" name="Shape 19"/>
          <p:cNvSpPr/>
          <p:nvPr/>
        </p:nvSpPr>
        <p:spPr>
          <a:xfrm>
            <a:off x="5440680" y="2606040"/>
            <a:ext cx="3017520" cy="237744"/>
          </a:xfrm>
          <a:prstGeom prst="roundRect">
            <a:avLst>
              <a:gd name="adj" fmla="val 23077"/>
            </a:avLst>
          </a:prstGeom>
          <a:solidFill>
            <a:srgbClr val="FFFFFF">
              <a:alpha val="0"/>
            </a:srgbClr>
          </a:solidFill>
          <a:ln w="22225">
            <a:solidFill>
              <a:srgbClr val="D8472C"/>
            </a:solidFill>
            <a:prstDash val="dash"/>
          </a:ln>
        </p:spPr>
      </p:sp>
      <p:sp>
        <p:nvSpPr>
          <p:cNvPr id="22" name="Text 20"/>
          <p:cNvSpPr txBox="1"/>
          <p:nvPr/>
        </p:nvSpPr>
        <p:spPr>
          <a:xfrm>
            <a:off x="5495544" y="2606040"/>
            <a:ext cx="3017520" cy="237744"/>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  book(FL-BOS)</a:t>
            </a:r>
            <a:endParaRPr lang="en-US" sz="950" dirty="0"/>
          </a:p>
        </p:txBody>
      </p:sp>
      <p:sp>
        <p:nvSpPr>
          <p:cNvPr id="23" name="Shape 21"/>
          <p:cNvSpPr/>
          <p:nvPr/>
        </p:nvSpPr>
        <p:spPr>
          <a:xfrm>
            <a:off x="6766560" y="3108960"/>
            <a:ext cx="1691640" cy="237744"/>
          </a:xfrm>
          <a:prstGeom prst="roundRect">
            <a:avLst>
              <a:gd name="adj" fmla="val 23077"/>
            </a:avLst>
          </a:prstGeom>
          <a:solidFill>
            <a:srgbClr val="2A9D8F"/>
          </a:solidFill>
          <a:ln w="12700">
            <a:solidFill>
              <a:srgbClr val="2A9D8F"/>
            </a:solidFill>
            <a:prstDash val="solid"/>
          </a:ln>
        </p:spPr>
      </p:sp>
      <p:sp>
        <p:nvSpPr>
          <p:cNvPr id="24" name="Text 22"/>
          <p:cNvSpPr txBox="1"/>
          <p:nvPr/>
        </p:nvSpPr>
        <p:spPr>
          <a:xfrm>
            <a:off x="6821424" y="3108960"/>
            <a:ext cx="2377440" cy="237744"/>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  search(New York)</a:t>
            </a:r>
            <a:endParaRPr lang="en-US" sz="950" dirty="0"/>
          </a:p>
        </p:txBody>
      </p:sp>
      <p:sp>
        <p:nvSpPr>
          <p:cNvPr id="25" name="Text 23"/>
          <p:cNvSpPr txBox="1"/>
          <p:nvPr/>
        </p:nvSpPr>
        <p:spPr>
          <a:xfrm>
            <a:off x="5440680" y="3547872"/>
            <a:ext cx="3108960" cy="274320"/>
          </a:xfrm>
          <a:prstGeom prst="rect">
            <a:avLst/>
          </a:prstGeom>
          <a:noFill/>
          <a:ln/>
        </p:spPr>
        <p:txBody>
          <a:bodyPr wrap="square" lIns="0" tIns="0" rIns="0" bIns="0" rtlCol="0" anchor="t"/>
          <a:lstStyle/>
          <a:p>
            <a:pPr algn="l" indent="0" marL="0">
              <a:buNone/>
            </a:pPr>
            <a:r>
              <a:rPr lang="en-US" sz="1050" i="1" dirty="0">
                <a:solidFill>
                  <a:srgbClr val="D8472C"/>
                </a:solidFill>
                <a:latin typeface="Calibri" pitchFamily="34" charset="0"/>
                <a:ea typeface="Calibri" pitchFamily="34" charset="-122"/>
                <a:cs typeface="Calibri" pitchFamily="34" charset="-120"/>
              </a:rPr>
              <a:t>both calls outlive the change of mind</a:t>
            </a:r>
            <a:endParaRPr lang="en-US" sz="1050" dirty="0"/>
          </a:p>
        </p:txBody>
      </p:sp>
      <p:sp>
        <p:nvSpPr>
          <p:cNvPr id="26" name="Text 24"/>
          <p:cNvSpPr txBox="1"/>
          <p:nvPr/>
        </p:nvSpPr>
        <p:spPr>
          <a:xfrm>
            <a:off x="457200" y="4206240"/>
            <a:ext cx="8229600" cy="548640"/>
          </a:xfrm>
          <a:prstGeom prst="rect">
            <a:avLst/>
          </a:prstGeom>
          <a:noFill/>
          <a:ln/>
        </p:spPr>
        <p:txBody>
          <a:bodyPr wrap="square" lIns="0" tIns="0" rIns="0" bIns="0" rtlCol="0" anchor="t"/>
          <a:lstStyle/>
          <a:p>
            <a:pPr algn="l" indent="0" marL="0">
              <a:buNone/>
            </a:pPr>
            <a:r>
              <a:rPr lang="en-US" sz="1300" i="1" dirty="0">
                <a:solidFill>
                  <a:srgbClr val="14213D"/>
                </a:solidFill>
                <a:latin typeface="Calibri" pitchFamily="34" charset="0"/>
                <a:ea typeface="Calibri" pitchFamily="34" charset="-122"/>
                <a:cs typeface="Calibri" pitchFamily="34" charset="-120"/>
              </a:rPr>
              <a:t>Samsung's harness grades exactly this: stale work, state after the interruption, latency, and duplicate commits.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t"/>
          <a:lstStyle/>
          <a:p>
            <a:pPr indent="0" marL="0">
              <a:buNone/>
            </a:pPr>
            <a:r>
              <a:rPr lang="en-US" sz="2800" b="1" dirty="0">
                <a:solidFill>
                  <a:srgbClr val="14213D"/>
                </a:solidFill>
                <a:latin typeface="Cambria" pitchFamily="34" charset="0"/>
                <a:ea typeface="Cambria" pitchFamily="34" charset="-122"/>
                <a:cs typeface="Cambria" pitchFamily="34" charset="-120"/>
              </a:rPr>
              <a:t>Four guarantees, held together</a:t>
            </a:r>
            <a:endParaRPr lang="en-US" sz="2800" dirty="0"/>
          </a:p>
        </p:txBody>
      </p:sp>
      <p:sp>
        <p:nvSpPr>
          <p:cNvPr id="3" name="Shape 1"/>
          <p:cNvSpPr/>
          <p:nvPr/>
        </p:nvSpPr>
        <p:spPr>
          <a:xfrm>
            <a:off x="457200" y="1234440"/>
            <a:ext cx="1920240" cy="3017520"/>
          </a:xfrm>
          <a:prstGeom prst="roundRect">
            <a:avLst>
              <a:gd name="adj" fmla="val 3810"/>
            </a:avLst>
          </a:prstGeom>
          <a:solidFill>
            <a:srgbClr val="F1F4F8"/>
          </a:solidFill>
          <a:ln w="12700">
            <a:solidFill>
              <a:srgbClr val="F1F4F8"/>
            </a:solidFill>
            <a:prstDash val="solid"/>
          </a:ln>
        </p:spPr>
      </p:sp>
      <p:sp>
        <p:nvSpPr>
          <p:cNvPr id="4" name="Shape 2"/>
          <p:cNvSpPr/>
          <p:nvPr/>
        </p:nvSpPr>
        <p:spPr>
          <a:xfrm>
            <a:off x="640080" y="1417320"/>
            <a:ext cx="457200" cy="457200"/>
          </a:xfrm>
          <a:prstGeom prst="ellipse">
            <a:avLst/>
          </a:prstGeom>
          <a:solidFill>
            <a:srgbClr val="14213D"/>
          </a:solidFill>
          <a:ln w="12700">
            <a:solidFill>
              <a:srgbClr val="14213D"/>
            </a:solidFill>
            <a:prstDash val="solid"/>
          </a:ln>
        </p:spPr>
      </p:sp>
      <p:sp>
        <p:nvSpPr>
          <p:cNvPr id="5" name="Text 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640080" y="2011680"/>
            <a:ext cx="1600200" cy="594360"/>
          </a:xfrm>
          <a:prstGeom prst="rect">
            <a:avLst/>
          </a:prstGeom>
          <a:noFill/>
          <a:ln/>
        </p:spPr>
        <p:txBody>
          <a:bodyPr wrap="square" lIns="0" tIns="0" rIns="0" bIns="0" rtlCol="0" anchor="t"/>
          <a:lstStyle/>
          <a:p>
            <a:pPr algn="l" indent="0" marL="0">
              <a:buNone/>
            </a:pPr>
            <a:r>
              <a:rPr lang="en-US" sz="1500" b="1" dirty="0">
                <a:solidFill>
                  <a:srgbClr val="14213D"/>
                </a:solidFill>
                <a:latin typeface="Calibri" pitchFamily="34" charset="0"/>
                <a:ea typeface="Calibri" pitchFamily="34" charset="-122"/>
                <a:cs typeface="Calibri" pitchFamily="34" charset="-120"/>
              </a:rPr>
              <a:t>Never silent</a:t>
            </a:r>
            <a:endParaRPr lang="en-US" sz="1500" dirty="0"/>
          </a:p>
        </p:txBody>
      </p:sp>
      <p:sp>
        <p:nvSpPr>
          <p:cNvPr id="7" name="Text 5"/>
          <p:cNvSpPr txBox="1"/>
          <p:nvPr/>
        </p:nvSpPr>
        <p:spPr>
          <a:xfrm>
            <a:off x="640080" y="2651760"/>
            <a:ext cx="1600200" cy="146304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A truthful, content-aware reply tens of milliseconds after every turn or interruption - however slow the real work.</a:t>
            </a:r>
            <a:endParaRPr lang="en-US" sz="1200" dirty="0"/>
          </a:p>
        </p:txBody>
      </p:sp>
      <p:sp>
        <p:nvSpPr>
          <p:cNvPr id="8" name="Shape 6"/>
          <p:cNvSpPr/>
          <p:nvPr/>
        </p:nvSpPr>
        <p:spPr>
          <a:xfrm>
            <a:off x="2560320" y="1234440"/>
            <a:ext cx="1920240" cy="3017520"/>
          </a:xfrm>
          <a:prstGeom prst="roundRect">
            <a:avLst>
              <a:gd name="adj" fmla="val 3810"/>
            </a:avLst>
          </a:prstGeom>
          <a:solidFill>
            <a:srgbClr val="F1F4F8"/>
          </a:solidFill>
          <a:ln w="12700">
            <a:solidFill>
              <a:srgbClr val="F1F4F8"/>
            </a:solidFill>
            <a:prstDash val="solid"/>
          </a:ln>
        </p:spPr>
      </p:sp>
      <p:sp>
        <p:nvSpPr>
          <p:cNvPr id="9" name="Shape 7"/>
          <p:cNvSpPr/>
          <p:nvPr/>
        </p:nvSpPr>
        <p:spPr>
          <a:xfrm>
            <a:off x="2743200" y="1417320"/>
            <a:ext cx="457200" cy="457200"/>
          </a:xfrm>
          <a:prstGeom prst="ellipse">
            <a:avLst/>
          </a:prstGeom>
          <a:solidFill>
            <a:srgbClr val="D8472C"/>
          </a:solidFill>
          <a:ln w="12700">
            <a:solidFill>
              <a:srgbClr val="D8472C"/>
            </a:solidFill>
            <a:prstDash val="solid"/>
          </a:ln>
        </p:spPr>
      </p:sp>
      <p:sp>
        <p:nvSpPr>
          <p:cNvPr id="10" name="Text 8"/>
          <p:cNvSpPr txBox="1"/>
          <p:nvPr/>
        </p:nvSpPr>
        <p:spPr>
          <a:xfrm>
            <a:off x="274320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2743200" y="2011680"/>
            <a:ext cx="1600200" cy="594360"/>
          </a:xfrm>
          <a:prstGeom prst="rect">
            <a:avLst/>
          </a:prstGeom>
          <a:noFill/>
          <a:ln/>
        </p:spPr>
        <p:txBody>
          <a:bodyPr wrap="square" lIns="0" tIns="0" rIns="0" bIns="0" rtlCol="0" anchor="t"/>
          <a:lstStyle/>
          <a:p>
            <a:pPr algn="l" indent="0" marL="0">
              <a:buNone/>
            </a:pPr>
            <a:r>
              <a:rPr lang="en-US" sz="1500" b="1" dirty="0">
                <a:solidFill>
                  <a:srgbClr val="14213D"/>
                </a:solidFill>
                <a:latin typeface="Calibri" pitchFamily="34" charset="0"/>
                <a:ea typeface="Calibri" pitchFamily="34" charset="-122"/>
                <a:cs typeface="Calibri" pitchFamily="34" charset="-120"/>
              </a:rPr>
              <a:t>Always interruptible</a:t>
            </a:r>
            <a:endParaRPr lang="en-US" sz="1500" dirty="0"/>
          </a:p>
        </p:txBody>
      </p:sp>
      <p:sp>
        <p:nvSpPr>
          <p:cNvPr id="12" name="Text 10"/>
          <p:cNvSpPr txBox="1"/>
          <p:nvPr/>
        </p:nvSpPr>
        <p:spPr>
          <a:xfrm>
            <a:off x="2743200" y="2651760"/>
            <a:ext cx="1600200" cy="146304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In-flight work is invalidated mid-execution; its results are never spoken and never committed.</a:t>
            </a:r>
            <a:endParaRPr lang="en-US" sz="1200" dirty="0"/>
          </a:p>
        </p:txBody>
      </p:sp>
      <p:sp>
        <p:nvSpPr>
          <p:cNvPr id="13" name="Shape 11"/>
          <p:cNvSpPr/>
          <p:nvPr/>
        </p:nvSpPr>
        <p:spPr>
          <a:xfrm>
            <a:off x="4663440" y="1234440"/>
            <a:ext cx="1920240" cy="3017520"/>
          </a:xfrm>
          <a:prstGeom prst="roundRect">
            <a:avLst>
              <a:gd name="adj" fmla="val 3810"/>
            </a:avLst>
          </a:prstGeom>
          <a:solidFill>
            <a:srgbClr val="F1F4F8"/>
          </a:solidFill>
          <a:ln w="12700">
            <a:solidFill>
              <a:srgbClr val="F1F4F8"/>
            </a:solidFill>
            <a:prstDash val="solid"/>
          </a:ln>
        </p:spPr>
      </p:sp>
      <p:sp>
        <p:nvSpPr>
          <p:cNvPr id="14" name="Shape 12"/>
          <p:cNvSpPr/>
          <p:nvPr/>
        </p:nvSpPr>
        <p:spPr>
          <a:xfrm>
            <a:off x="4846320" y="1417320"/>
            <a:ext cx="457200" cy="457200"/>
          </a:xfrm>
          <a:prstGeom prst="ellipse">
            <a:avLst/>
          </a:prstGeom>
          <a:solidFill>
            <a:srgbClr val="2A9D8F"/>
          </a:solidFill>
          <a:ln w="12700">
            <a:solidFill>
              <a:srgbClr val="2A9D8F"/>
            </a:solidFill>
            <a:prstDash val="solid"/>
          </a:ln>
        </p:spPr>
      </p:sp>
      <p:sp>
        <p:nvSpPr>
          <p:cNvPr id="15" name="Text 13"/>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txBox="1"/>
          <p:nvPr/>
        </p:nvSpPr>
        <p:spPr>
          <a:xfrm>
            <a:off x="4846320" y="2011680"/>
            <a:ext cx="1600200" cy="594360"/>
          </a:xfrm>
          <a:prstGeom prst="rect">
            <a:avLst/>
          </a:prstGeom>
          <a:noFill/>
          <a:ln/>
        </p:spPr>
        <p:txBody>
          <a:bodyPr wrap="square" lIns="0" tIns="0" rIns="0" bIns="0" rtlCol="0" anchor="t"/>
          <a:lstStyle/>
          <a:p>
            <a:pPr algn="l" indent="0" marL="0">
              <a:buNone/>
            </a:pPr>
            <a:r>
              <a:rPr lang="en-US" sz="1500" b="1" dirty="0">
                <a:solidFill>
                  <a:srgbClr val="14213D"/>
                </a:solidFill>
                <a:latin typeface="Calibri" pitchFamily="34" charset="0"/>
                <a:ea typeface="Calibri" pitchFamily="34" charset="-122"/>
                <a:cs typeface="Calibri" pitchFamily="34" charset="-120"/>
              </a:rPr>
              <a:t>Never double-commits</a:t>
            </a:r>
            <a:endParaRPr lang="en-US" sz="1500" dirty="0"/>
          </a:p>
        </p:txBody>
      </p:sp>
      <p:sp>
        <p:nvSpPr>
          <p:cNvPr id="17" name="Text 15"/>
          <p:cNvSpPr txBox="1"/>
          <p:nvPr/>
        </p:nvSpPr>
        <p:spPr>
          <a:xfrm>
            <a:off x="4846320" y="2651760"/>
            <a:ext cx="1600200" cy="146304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No irreversible action runs twice - not under retries, cancellations or re-plans.</a:t>
            </a:r>
            <a:endParaRPr lang="en-US" sz="1200" dirty="0"/>
          </a:p>
        </p:txBody>
      </p:sp>
      <p:sp>
        <p:nvSpPr>
          <p:cNvPr id="18" name="Shape 16"/>
          <p:cNvSpPr/>
          <p:nvPr/>
        </p:nvSpPr>
        <p:spPr>
          <a:xfrm>
            <a:off x="6766560" y="1234440"/>
            <a:ext cx="1920240" cy="3017520"/>
          </a:xfrm>
          <a:prstGeom prst="roundRect">
            <a:avLst>
              <a:gd name="adj" fmla="val 3810"/>
            </a:avLst>
          </a:prstGeom>
          <a:solidFill>
            <a:srgbClr val="F1F4F8"/>
          </a:solidFill>
          <a:ln w="12700">
            <a:solidFill>
              <a:srgbClr val="F1F4F8"/>
            </a:solidFill>
            <a:prstDash val="solid"/>
          </a:ln>
        </p:spPr>
      </p:sp>
      <p:sp>
        <p:nvSpPr>
          <p:cNvPr id="19" name="Shape 17"/>
          <p:cNvSpPr/>
          <p:nvPr/>
        </p:nvSpPr>
        <p:spPr>
          <a:xfrm>
            <a:off x="6949440" y="1417320"/>
            <a:ext cx="457200" cy="457200"/>
          </a:xfrm>
          <a:prstGeom prst="ellipse">
            <a:avLst/>
          </a:prstGeom>
          <a:solidFill>
            <a:srgbClr val="E9A23B"/>
          </a:solidFill>
          <a:ln w="12700">
            <a:solidFill>
              <a:srgbClr val="E9A23B"/>
            </a:solidFill>
            <a:prstDash val="solid"/>
          </a:ln>
        </p:spPr>
      </p:sp>
      <p:sp>
        <p:nvSpPr>
          <p:cNvPr id="20" name="Text 18"/>
          <p:cNvSpPr txBox="1"/>
          <p:nvPr/>
        </p:nvSpPr>
        <p:spPr>
          <a:xfrm>
            <a:off x="694944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1" name="Text 19"/>
          <p:cNvSpPr txBox="1"/>
          <p:nvPr/>
        </p:nvSpPr>
        <p:spPr>
          <a:xfrm>
            <a:off x="6949440" y="2011680"/>
            <a:ext cx="1600200" cy="594360"/>
          </a:xfrm>
          <a:prstGeom prst="rect">
            <a:avLst/>
          </a:prstGeom>
          <a:noFill/>
          <a:ln/>
        </p:spPr>
        <p:txBody>
          <a:bodyPr wrap="square" lIns="0" tIns="0" rIns="0" bIns="0" rtlCol="0" anchor="t"/>
          <a:lstStyle/>
          <a:p>
            <a:pPr algn="l" indent="0" marL="0">
              <a:buNone/>
            </a:pPr>
            <a:r>
              <a:rPr lang="en-US" sz="1500" b="1" dirty="0">
                <a:solidFill>
                  <a:srgbClr val="14213D"/>
                </a:solidFill>
                <a:latin typeface="Calibri" pitchFamily="34" charset="0"/>
                <a:ea typeface="Calibri" pitchFamily="34" charset="-122"/>
                <a:cs typeface="Calibri" pitchFamily="34" charset="-120"/>
              </a:rPr>
              <a:t>Honest about uncertainty</a:t>
            </a:r>
            <a:endParaRPr lang="en-US" sz="1500" dirty="0"/>
          </a:p>
        </p:txBody>
      </p:sp>
      <p:sp>
        <p:nvSpPr>
          <p:cNvPr id="22" name="Text 20"/>
          <p:cNvSpPr txBox="1"/>
          <p:nvPr/>
        </p:nvSpPr>
        <p:spPr>
          <a:xfrm>
            <a:off x="6949440" y="2651760"/>
            <a:ext cx="1600200" cy="146304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When perception is unsure it asks, and names what: "Sorry, did you say Austin?"</a:t>
            </a:r>
            <a:endParaRPr lang="en-US" sz="1200" dirty="0"/>
          </a:p>
        </p:txBody>
      </p:sp>
      <p:sp>
        <p:nvSpPr>
          <p:cNvPr id="23" name="Text 21"/>
          <p:cNvSpPr txBox="1"/>
          <p:nvPr/>
        </p:nvSpPr>
        <p:spPr>
          <a:xfrm>
            <a:off x="457200" y="4434840"/>
            <a:ext cx="8229600" cy="365760"/>
          </a:xfrm>
          <a:prstGeom prst="rect">
            <a:avLst/>
          </a:prstGeom>
          <a:noFill/>
          <a:ln/>
        </p:spPr>
        <p:txBody>
          <a:bodyPr wrap="square" lIns="0" tIns="0" rIns="0" bIns="0" rtlCol="0" anchor="t"/>
          <a:lstStyle/>
          <a:p>
            <a:pPr algn="l" indent="0" marL="0">
              <a:buNone/>
            </a:pPr>
            <a:r>
              <a:rPr lang="en-US" sz="1300" i="1" dirty="0">
                <a:solidFill>
                  <a:srgbClr val="5B6472"/>
                </a:solidFill>
                <a:latin typeface="Calibri" pitchFamily="34" charset="0"/>
                <a:ea typeface="Calibri" pitchFamily="34" charset="-122"/>
                <a:cs typeface="Calibri" pitchFamily="34" charset="-120"/>
              </a:rPr>
              <a:t>No shipping assistant guarantees all four at once. The harness measures each of them.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t"/>
          <a:lstStyle/>
          <a:p>
            <a:pPr indent="0" marL="0">
              <a:buNone/>
            </a:pPr>
            <a:r>
              <a:rPr lang="en-US" sz="2800" b="1" dirty="0">
                <a:solidFill>
                  <a:srgbClr val="14213D"/>
                </a:solidFill>
                <a:latin typeface="Cambria" pitchFamily="34" charset="0"/>
                <a:ea typeface="Cambria" pitchFamily="34" charset="-122"/>
                <a:cs typeface="Cambria" pitchFamily="34" charset="-120"/>
              </a:rPr>
              <a:t>Architecture: one dispatcher, one exit</a:t>
            </a:r>
            <a:endParaRPr lang="en-US" sz="2800" dirty="0"/>
          </a:p>
        </p:txBody>
      </p:sp>
      <p:sp>
        <p:nvSpPr>
          <p:cNvPr id="3" name="Shape 1"/>
          <p:cNvSpPr/>
          <p:nvPr/>
        </p:nvSpPr>
        <p:spPr>
          <a:xfrm>
            <a:off x="457200" y="1143000"/>
            <a:ext cx="5394960" cy="566928"/>
          </a:xfrm>
          <a:prstGeom prst="roundRect">
            <a:avLst>
              <a:gd name="adj" fmla="val 9677"/>
            </a:avLst>
          </a:prstGeom>
          <a:solidFill>
            <a:srgbClr val="14213D"/>
          </a:solidFill>
          <a:ln w="12700">
            <a:solidFill>
              <a:srgbClr val="14213D"/>
            </a:solidFill>
            <a:prstDash val="solid"/>
          </a:ln>
        </p:spPr>
      </p:sp>
      <p:sp>
        <p:nvSpPr>
          <p:cNvPr id="4" name="Text 2"/>
          <p:cNvSpPr txBox="1"/>
          <p:nvPr/>
        </p:nvSpPr>
        <p:spPr>
          <a:xfrm>
            <a:off x="548640" y="1197864"/>
            <a:ext cx="5212080" cy="274320"/>
          </a:xfrm>
          <a:prstGeom prst="rect">
            <a:avLst/>
          </a:prstGeom>
          <a:noFill/>
          <a:ln/>
        </p:spPr>
        <p:txBody>
          <a:bodyPr wrap="square" lIns="0" tIns="0" rIns="0" bIns="0" rtlCol="0" anchor="t"/>
          <a:lstStyle/>
          <a:p>
            <a:pPr algn="l" indent="0" marL="0">
              <a:buNone/>
            </a:pPr>
            <a:r>
              <a:rPr lang="en-US" sz="1200" b="1" dirty="0">
                <a:solidFill>
                  <a:srgbClr val="FFFFFF"/>
                </a:solidFill>
                <a:latin typeface="Calibri" pitchFamily="34" charset="0"/>
                <a:ea typeface="Calibri" pitchFamily="34" charset="-122"/>
                <a:cs typeface="Calibri" pitchFamily="34" charset="-120"/>
              </a:rPr>
              <a:t>DISPATCHER  ·  runtime.py</a:t>
            </a:r>
            <a:endParaRPr lang="en-US" sz="1200" dirty="0"/>
          </a:p>
        </p:txBody>
      </p:sp>
      <p:sp>
        <p:nvSpPr>
          <p:cNvPr id="5" name="Text 3"/>
          <p:cNvSpPr txBox="1"/>
          <p:nvPr/>
        </p:nvSpPr>
        <p:spPr>
          <a:xfrm>
            <a:off x="548640" y="1472184"/>
            <a:ext cx="5212080" cy="201168"/>
          </a:xfrm>
          <a:prstGeom prst="rect">
            <a:avLst/>
          </a:prstGeom>
          <a:noFill/>
          <a:ln/>
        </p:spPr>
        <p:txBody>
          <a:bodyPr wrap="square" lIns="0" tIns="0" rIns="0" bIns="0" rtlCol="0" anchor="t"/>
          <a:lstStyle/>
          <a:p>
            <a:pPr algn="l" indent="0" marL="0">
              <a:buNone/>
            </a:pPr>
            <a:r>
              <a:rPr lang="en-US" sz="1000" dirty="0">
                <a:solidFill>
                  <a:srgbClr val="FFFFFF"/>
                </a:solidFill>
                <a:latin typeface="Calibri" pitchFamily="34" charset="0"/>
                <a:ea typeface="Calibri" pitchFamily="34" charset="-122"/>
                <a:cs typeface="Calibri" pitchFamily="34" charset="-120"/>
              </a:rPr>
              <a:t>synchronous · never awaits slow work · &lt; 20 ms per event</a:t>
            </a:r>
            <a:endParaRPr lang="en-US" sz="1000" dirty="0"/>
          </a:p>
        </p:txBody>
      </p:sp>
      <p:sp>
        <p:nvSpPr>
          <p:cNvPr id="6" name="Shape 4"/>
          <p:cNvSpPr/>
          <p:nvPr/>
        </p:nvSpPr>
        <p:spPr>
          <a:xfrm>
            <a:off x="457200" y="1920240"/>
            <a:ext cx="1280160" cy="1051560"/>
          </a:xfrm>
          <a:prstGeom prst="roundRect">
            <a:avLst>
              <a:gd name="adj" fmla="val 5217"/>
            </a:avLst>
          </a:prstGeom>
          <a:solidFill>
            <a:srgbClr val="F1F4F8"/>
          </a:solidFill>
          <a:ln w="12700">
            <a:solidFill>
              <a:srgbClr val="F1F4F8"/>
            </a:solidFill>
            <a:prstDash val="solid"/>
          </a:ln>
        </p:spPr>
      </p:sp>
      <p:sp>
        <p:nvSpPr>
          <p:cNvPr id="7" name="Text 5"/>
          <p:cNvSpPr txBox="1"/>
          <p:nvPr/>
        </p:nvSpPr>
        <p:spPr>
          <a:xfrm>
            <a:off x="548640" y="1975104"/>
            <a:ext cx="1097280" cy="274320"/>
          </a:xfrm>
          <a:prstGeom prst="rect">
            <a:avLst/>
          </a:prstGeom>
          <a:noFill/>
          <a:ln/>
        </p:spPr>
        <p:txBody>
          <a:bodyPr wrap="square" lIns="0" tIns="0" rIns="0" bIns="0" rtlCol="0" anchor="t"/>
          <a:lstStyle/>
          <a:p>
            <a:pPr algn="l" indent="0" marL="0">
              <a:buNone/>
            </a:pPr>
            <a:r>
              <a:rPr lang="en-US" sz="1200" b="1" dirty="0">
                <a:solidFill>
                  <a:srgbClr val="14213D"/>
                </a:solidFill>
                <a:latin typeface="Calibri" pitchFamily="34" charset="0"/>
                <a:ea typeface="Calibri" pitchFamily="34" charset="-122"/>
                <a:cs typeface="Calibri" pitchFamily="34" charset="-120"/>
              </a:rPr>
              <a:t>FAST PATH</a:t>
            </a:r>
            <a:endParaRPr lang="en-US" sz="1200" dirty="0"/>
          </a:p>
        </p:txBody>
      </p:sp>
      <p:sp>
        <p:nvSpPr>
          <p:cNvPr id="8" name="Text 6"/>
          <p:cNvSpPr txBox="1"/>
          <p:nvPr/>
        </p:nvSpPr>
        <p:spPr>
          <a:xfrm>
            <a:off x="548640" y="2249424"/>
            <a:ext cx="1097280" cy="685800"/>
          </a:xfrm>
          <a:prstGeom prst="rect">
            <a:avLst/>
          </a:prstGeom>
          <a:noFill/>
          <a:ln/>
        </p:spPr>
        <p:txBody>
          <a:bodyPr wrap="square" lIns="0" tIns="0" rIns="0" bIns="0" rtlCol="0" anchor="t"/>
          <a:lstStyle/>
          <a:p>
            <a:pPr algn="l" indent="0" marL="0">
              <a:buNone/>
            </a:pPr>
            <a:r>
              <a:rPr lang="en-US" sz="1000" dirty="0">
                <a:solidFill>
                  <a:srgbClr val="14213D"/>
                </a:solidFill>
                <a:latin typeface="Calibri" pitchFamily="34" charset="0"/>
                <a:ea typeface="Calibri" pitchFamily="34" charset="-122"/>
                <a:cs typeface="Calibri" pitchFamily="34" charset="-120"/>
              </a:rPr>
              <a:t>repairs, extraction, acknowledgments</a:t>
            </a:r>
            <a:endParaRPr lang="en-US" sz="1000" dirty="0"/>
          </a:p>
        </p:txBody>
      </p:sp>
      <p:sp>
        <p:nvSpPr>
          <p:cNvPr id="9" name="Shape 7"/>
          <p:cNvSpPr/>
          <p:nvPr/>
        </p:nvSpPr>
        <p:spPr>
          <a:xfrm>
            <a:off x="1828800" y="1920240"/>
            <a:ext cx="1280160" cy="1051560"/>
          </a:xfrm>
          <a:prstGeom prst="roundRect">
            <a:avLst>
              <a:gd name="adj" fmla="val 5217"/>
            </a:avLst>
          </a:prstGeom>
          <a:solidFill>
            <a:srgbClr val="F1F4F8"/>
          </a:solidFill>
          <a:ln w="12700">
            <a:solidFill>
              <a:srgbClr val="F1F4F8"/>
            </a:solidFill>
            <a:prstDash val="solid"/>
          </a:ln>
        </p:spPr>
      </p:sp>
      <p:sp>
        <p:nvSpPr>
          <p:cNvPr id="10" name="Text 8"/>
          <p:cNvSpPr txBox="1"/>
          <p:nvPr/>
        </p:nvSpPr>
        <p:spPr>
          <a:xfrm>
            <a:off x="1920240" y="1975104"/>
            <a:ext cx="1097280" cy="274320"/>
          </a:xfrm>
          <a:prstGeom prst="rect">
            <a:avLst/>
          </a:prstGeom>
          <a:noFill/>
          <a:ln/>
        </p:spPr>
        <p:txBody>
          <a:bodyPr wrap="square" lIns="0" tIns="0" rIns="0" bIns="0" rtlCol="0" anchor="t"/>
          <a:lstStyle/>
          <a:p>
            <a:pPr algn="l" indent="0" marL="0">
              <a:buNone/>
            </a:pPr>
            <a:r>
              <a:rPr lang="en-US" sz="1200" b="1" dirty="0">
                <a:solidFill>
                  <a:srgbClr val="14213D"/>
                </a:solidFill>
                <a:latin typeface="Calibri" pitchFamily="34" charset="0"/>
                <a:ea typeface="Calibri" pitchFamily="34" charset="-122"/>
                <a:cs typeface="Calibri" pitchFamily="34" charset="-120"/>
              </a:rPr>
              <a:t>COORDINATOR</a:t>
            </a:r>
            <a:endParaRPr lang="en-US" sz="1200" dirty="0"/>
          </a:p>
        </p:txBody>
      </p:sp>
      <p:sp>
        <p:nvSpPr>
          <p:cNvPr id="11" name="Text 9"/>
          <p:cNvSpPr txBox="1"/>
          <p:nvPr/>
        </p:nvSpPr>
        <p:spPr>
          <a:xfrm>
            <a:off x="1920240" y="2249424"/>
            <a:ext cx="1097280" cy="685800"/>
          </a:xfrm>
          <a:prstGeom prst="rect">
            <a:avLst/>
          </a:prstGeom>
          <a:noFill/>
          <a:ln/>
        </p:spPr>
        <p:txBody>
          <a:bodyPr wrap="square" lIns="0" tIns="0" rIns="0" bIns="0" rtlCol="0" anchor="t"/>
          <a:lstStyle/>
          <a:p>
            <a:pPr algn="l" indent="0" marL="0">
              <a:buNone/>
            </a:pPr>
            <a:r>
              <a:rPr lang="en-US" sz="1000" dirty="0">
                <a:solidFill>
                  <a:srgbClr val="14213D"/>
                </a:solidFill>
                <a:latin typeface="Calibri" pitchFamily="34" charset="0"/>
                <a:ea typeface="Calibri" pitchFamily="34" charset="-122"/>
                <a:cs typeface="Calibri" pitchFamily="34" charset="-120"/>
              </a:rPr>
              <a:t>epochs (M1), ledger + gate (M2)</a:t>
            </a:r>
            <a:endParaRPr lang="en-US" sz="1000" dirty="0"/>
          </a:p>
        </p:txBody>
      </p:sp>
      <p:sp>
        <p:nvSpPr>
          <p:cNvPr id="12" name="Shape 10"/>
          <p:cNvSpPr/>
          <p:nvPr/>
        </p:nvSpPr>
        <p:spPr>
          <a:xfrm>
            <a:off x="3200400" y="1920240"/>
            <a:ext cx="1280160" cy="1051560"/>
          </a:xfrm>
          <a:prstGeom prst="roundRect">
            <a:avLst>
              <a:gd name="adj" fmla="val 5217"/>
            </a:avLst>
          </a:prstGeom>
          <a:solidFill>
            <a:srgbClr val="F1F4F8"/>
          </a:solidFill>
          <a:ln w="12700">
            <a:solidFill>
              <a:srgbClr val="F1F4F8"/>
            </a:solidFill>
            <a:prstDash val="solid"/>
          </a:ln>
        </p:spPr>
      </p:sp>
      <p:sp>
        <p:nvSpPr>
          <p:cNvPr id="13" name="Text 11"/>
          <p:cNvSpPr txBox="1"/>
          <p:nvPr/>
        </p:nvSpPr>
        <p:spPr>
          <a:xfrm>
            <a:off x="3291840" y="1975104"/>
            <a:ext cx="1097280" cy="274320"/>
          </a:xfrm>
          <a:prstGeom prst="rect">
            <a:avLst/>
          </a:prstGeom>
          <a:noFill/>
          <a:ln/>
        </p:spPr>
        <p:txBody>
          <a:bodyPr wrap="square" lIns="0" tIns="0" rIns="0" bIns="0" rtlCol="0" anchor="t"/>
          <a:lstStyle/>
          <a:p>
            <a:pPr algn="l" indent="0" marL="0">
              <a:buNone/>
            </a:pPr>
            <a:r>
              <a:rPr lang="en-US" sz="1200" b="1" dirty="0">
                <a:solidFill>
                  <a:srgbClr val="14213D"/>
                </a:solidFill>
                <a:latin typeface="Calibri" pitchFamily="34" charset="0"/>
                <a:ea typeface="Calibri" pitchFamily="34" charset="-122"/>
                <a:cs typeface="Calibri" pitchFamily="34" charset="-120"/>
              </a:rPr>
              <a:t>SLOW PATH</a:t>
            </a:r>
            <a:endParaRPr lang="en-US" sz="1200" dirty="0"/>
          </a:p>
        </p:txBody>
      </p:sp>
      <p:sp>
        <p:nvSpPr>
          <p:cNvPr id="14" name="Text 12"/>
          <p:cNvSpPr txBox="1"/>
          <p:nvPr/>
        </p:nvSpPr>
        <p:spPr>
          <a:xfrm>
            <a:off x="3291840" y="2249424"/>
            <a:ext cx="1097280" cy="685800"/>
          </a:xfrm>
          <a:prstGeom prst="rect">
            <a:avLst/>
          </a:prstGeom>
          <a:noFill/>
          <a:ln/>
        </p:spPr>
        <p:txBody>
          <a:bodyPr wrap="square" lIns="0" tIns="0" rIns="0" bIns="0" rtlCol="0" anchor="t"/>
          <a:lstStyle/>
          <a:p>
            <a:pPr algn="l" indent="0" marL="0">
              <a:buNone/>
            </a:pPr>
            <a:r>
              <a:rPr lang="en-US" sz="1000" dirty="0">
                <a:solidFill>
                  <a:srgbClr val="14213D"/>
                </a:solidFill>
                <a:latin typeface="Calibri" pitchFamily="34" charset="0"/>
                <a:ea typeface="Calibri" pitchFamily="34" charset="-122"/>
                <a:cs typeface="Calibri" pitchFamily="34" charset="-120"/>
              </a:rPr>
              <a:t>speech, frames, tools</a:t>
            </a:r>
            <a:endParaRPr lang="en-US" sz="1000" dirty="0"/>
          </a:p>
        </p:txBody>
      </p:sp>
      <p:sp>
        <p:nvSpPr>
          <p:cNvPr id="15" name="Shape 13"/>
          <p:cNvSpPr/>
          <p:nvPr/>
        </p:nvSpPr>
        <p:spPr>
          <a:xfrm>
            <a:off x="4572000" y="1920240"/>
            <a:ext cx="1280160" cy="1051560"/>
          </a:xfrm>
          <a:prstGeom prst="roundRect">
            <a:avLst>
              <a:gd name="adj" fmla="val 5217"/>
            </a:avLst>
          </a:prstGeom>
          <a:solidFill>
            <a:srgbClr val="F1F4F8"/>
          </a:solidFill>
          <a:ln w="12700">
            <a:solidFill>
              <a:srgbClr val="F1F4F8"/>
            </a:solidFill>
            <a:prstDash val="solid"/>
          </a:ln>
        </p:spPr>
      </p:sp>
      <p:sp>
        <p:nvSpPr>
          <p:cNvPr id="16" name="Text 14"/>
          <p:cNvSpPr txBox="1"/>
          <p:nvPr/>
        </p:nvSpPr>
        <p:spPr>
          <a:xfrm>
            <a:off x="4663440" y="1975104"/>
            <a:ext cx="1097280" cy="274320"/>
          </a:xfrm>
          <a:prstGeom prst="rect">
            <a:avLst/>
          </a:prstGeom>
          <a:noFill/>
          <a:ln/>
        </p:spPr>
        <p:txBody>
          <a:bodyPr wrap="square" lIns="0" tIns="0" rIns="0" bIns="0" rtlCol="0" anchor="t"/>
          <a:lstStyle/>
          <a:p>
            <a:pPr algn="l" indent="0" marL="0">
              <a:buNone/>
            </a:pPr>
            <a:r>
              <a:rPr lang="en-US" sz="1200" b="1" dirty="0">
                <a:solidFill>
                  <a:srgbClr val="14213D"/>
                </a:solidFill>
                <a:latin typeface="Calibri" pitchFamily="34" charset="0"/>
                <a:ea typeface="Calibri" pitchFamily="34" charset="-122"/>
                <a:cs typeface="Calibri" pitchFamily="34" charset="-120"/>
              </a:rPr>
              <a:t>STATE</a:t>
            </a:r>
            <a:endParaRPr lang="en-US" sz="1200" dirty="0"/>
          </a:p>
        </p:txBody>
      </p:sp>
      <p:sp>
        <p:nvSpPr>
          <p:cNvPr id="17" name="Text 15"/>
          <p:cNvSpPr txBox="1"/>
          <p:nvPr/>
        </p:nvSpPr>
        <p:spPr>
          <a:xfrm>
            <a:off x="4663440" y="2249424"/>
            <a:ext cx="1097280" cy="685800"/>
          </a:xfrm>
          <a:prstGeom prst="rect">
            <a:avLst/>
          </a:prstGeom>
          <a:noFill/>
          <a:ln/>
        </p:spPr>
        <p:txBody>
          <a:bodyPr wrap="square" lIns="0" tIns="0" rIns="0" bIns="0" rtlCol="0" anchor="t"/>
          <a:lstStyle/>
          <a:p>
            <a:pPr algn="l" indent="0" marL="0">
              <a:buNone/>
            </a:pPr>
            <a:r>
              <a:rPr lang="en-US" sz="1000" dirty="0">
                <a:solidFill>
                  <a:srgbClr val="14213D"/>
                </a:solidFill>
                <a:latin typeface="Calibri" pitchFamily="34" charset="0"/>
                <a:ea typeface="Calibri" pitchFamily="34" charset="-122"/>
                <a:cs typeface="Calibri" pitchFamily="34" charset="-120"/>
              </a:rPr>
              <a:t>slots + provenance (M3), undo (M6)</a:t>
            </a:r>
            <a:endParaRPr lang="en-US" sz="1000" dirty="0"/>
          </a:p>
        </p:txBody>
      </p:sp>
      <p:sp>
        <p:nvSpPr>
          <p:cNvPr id="18" name="Shape 16"/>
          <p:cNvSpPr/>
          <p:nvPr/>
        </p:nvSpPr>
        <p:spPr>
          <a:xfrm>
            <a:off x="457200" y="3200400"/>
            <a:ext cx="5394960" cy="566928"/>
          </a:xfrm>
          <a:prstGeom prst="roundRect">
            <a:avLst>
              <a:gd name="adj" fmla="val 9677"/>
            </a:avLst>
          </a:prstGeom>
          <a:solidFill>
            <a:srgbClr val="2A9D8F"/>
          </a:solidFill>
          <a:ln w="12700">
            <a:solidFill>
              <a:srgbClr val="2A9D8F"/>
            </a:solidFill>
            <a:prstDash val="solid"/>
          </a:ln>
        </p:spPr>
      </p:sp>
      <p:sp>
        <p:nvSpPr>
          <p:cNvPr id="19" name="Text 17"/>
          <p:cNvSpPr txBox="1"/>
          <p:nvPr/>
        </p:nvSpPr>
        <p:spPr>
          <a:xfrm>
            <a:off x="548640" y="3255264"/>
            <a:ext cx="5212080" cy="274320"/>
          </a:xfrm>
          <a:prstGeom prst="rect">
            <a:avLst/>
          </a:prstGeom>
          <a:noFill/>
          <a:ln/>
        </p:spPr>
        <p:txBody>
          <a:bodyPr wrap="square" lIns="0" tIns="0" rIns="0" bIns="0" rtlCol="0" anchor="t"/>
          <a:lstStyle/>
          <a:p>
            <a:pPr algn="l" indent="0" marL="0">
              <a:buNone/>
            </a:pPr>
            <a:r>
              <a:rPr lang="en-US" sz="1200" b="1" dirty="0">
                <a:solidFill>
                  <a:srgbClr val="FFFFFF"/>
                </a:solidFill>
                <a:latin typeface="Calibri" pitchFamily="34" charset="0"/>
                <a:ea typeface="Calibri" pitchFamily="34" charset="-122"/>
                <a:cs typeface="Calibri" pitchFamily="34" charset="-120"/>
              </a:rPr>
              <a:t>EMITTER  ·  the only queue write</a:t>
            </a:r>
            <a:endParaRPr lang="en-US" sz="1200" dirty="0"/>
          </a:p>
        </p:txBody>
      </p:sp>
      <p:sp>
        <p:nvSpPr>
          <p:cNvPr id="20" name="Text 18"/>
          <p:cNvSpPr txBox="1"/>
          <p:nvPr/>
        </p:nvSpPr>
        <p:spPr>
          <a:xfrm>
            <a:off x="548640" y="3529584"/>
            <a:ext cx="5212080" cy="201168"/>
          </a:xfrm>
          <a:prstGeom prst="rect">
            <a:avLst/>
          </a:prstGeom>
          <a:noFill/>
          <a:ln/>
        </p:spPr>
        <p:txBody>
          <a:bodyPr wrap="square" lIns="0" tIns="0" rIns="0" bIns="0" rtlCol="0" anchor="t"/>
          <a:lstStyle/>
          <a:p>
            <a:pPr algn="l" indent="0" marL="0">
              <a:buNone/>
            </a:pPr>
            <a:r>
              <a:rPr lang="en-US" sz="1000" dirty="0">
                <a:solidFill>
                  <a:srgbClr val="FFFFFF"/>
                </a:solidFill>
                <a:latin typeface="Calibri" pitchFamily="34" charset="0"/>
                <a:ea typeface="Calibri" pitchFamily="34" charset="-122"/>
                <a:cs typeface="Calibri" pitchFamily="34" charset="-120"/>
              </a:rPr>
              <a:t>snapshot · validation · no repeats · no premature claims</a:t>
            </a:r>
            <a:endParaRPr lang="en-US" sz="1000" dirty="0"/>
          </a:p>
        </p:txBody>
      </p:sp>
      <p:sp>
        <p:nvSpPr>
          <p:cNvPr id="21" name="Text 19"/>
          <p:cNvSpPr txBox="1"/>
          <p:nvPr/>
        </p:nvSpPr>
        <p:spPr>
          <a:xfrm>
            <a:off x="457200" y="3931920"/>
            <a:ext cx="2743200" cy="274320"/>
          </a:xfrm>
          <a:prstGeom prst="rect">
            <a:avLst/>
          </a:prstGeom>
          <a:noFill/>
          <a:ln/>
        </p:spPr>
        <p:txBody>
          <a:bodyPr wrap="square" lIns="0" tIns="0" rIns="0" bIns="0" rtlCol="0" anchor="t"/>
          <a:lstStyle/>
          <a:p>
            <a:pPr algn="l" indent="0" marL="0">
              <a:buNone/>
            </a:pPr>
            <a:r>
              <a:rPr lang="en-US" sz="1100" dirty="0">
                <a:solidFill>
                  <a:srgbClr val="5B6472"/>
                </a:solidFill>
                <a:latin typeface="Calibri" pitchFamily="34" charset="0"/>
                <a:ea typeface="Calibri" pitchFamily="34" charset="-122"/>
                <a:cs typeface="Calibri" pitchFamily="34" charset="-120"/>
              </a:rPr>
              <a:t>events in  →</a:t>
            </a:r>
            <a:endParaRPr lang="en-US" sz="1100" dirty="0"/>
          </a:p>
        </p:txBody>
      </p:sp>
      <p:sp>
        <p:nvSpPr>
          <p:cNvPr id="22" name="Text 20"/>
          <p:cNvSpPr txBox="1"/>
          <p:nvPr/>
        </p:nvSpPr>
        <p:spPr>
          <a:xfrm>
            <a:off x="3108960" y="3931920"/>
            <a:ext cx="2743200" cy="274320"/>
          </a:xfrm>
          <a:prstGeom prst="rect">
            <a:avLst/>
          </a:prstGeom>
          <a:noFill/>
          <a:ln/>
        </p:spPr>
        <p:txBody>
          <a:bodyPr wrap="square" lIns="0" tIns="0" rIns="0" bIns="0" rtlCol="0" anchor="t"/>
          <a:lstStyle/>
          <a:p>
            <a:pPr algn="r" indent="0" marL="0">
              <a:buNone/>
            </a:pPr>
            <a:r>
              <a:rPr lang="en-US" sz="1100" dirty="0">
                <a:solidFill>
                  <a:srgbClr val="5B6472"/>
                </a:solidFill>
                <a:latin typeface="Calibri" pitchFamily="34" charset="0"/>
                <a:ea typeface="Calibri" pitchFamily="34" charset="-122"/>
                <a:cs typeface="Calibri" pitchFamily="34" charset="-120"/>
              </a:rPr>
              <a:t>→  actions out</a:t>
            </a:r>
            <a:endParaRPr lang="en-US" sz="1100" dirty="0"/>
          </a:p>
        </p:txBody>
      </p:sp>
      <p:sp>
        <p:nvSpPr>
          <p:cNvPr id="23" name="Shape 21"/>
          <p:cNvSpPr/>
          <p:nvPr/>
        </p:nvSpPr>
        <p:spPr>
          <a:xfrm>
            <a:off x="6172200" y="1143000"/>
            <a:ext cx="2514600" cy="2743200"/>
          </a:xfrm>
          <a:prstGeom prst="roundRect">
            <a:avLst>
              <a:gd name="adj" fmla="val 2909"/>
            </a:avLst>
          </a:prstGeom>
          <a:solidFill>
            <a:srgbClr val="F1F4F8"/>
          </a:solidFill>
          <a:ln w="12700">
            <a:solidFill>
              <a:srgbClr val="F1F4F8"/>
            </a:solidFill>
            <a:prstDash val="solid"/>
          </a:ln>
        </p:spPr>
      </p:sp>
      <p:sp>
        <p:nvSpPr>
          <p:cNvPr id="24" name="Text 22"/>
          <p:cNvSpPr txBox="1"/>
          <p:nvPr/>
        </p:nvSpPr>
        <p:spPr>
          <a:xfrm>
            <a:off x="6355080" y="1280160"/>
            <a:ext cx="2194560" cy="457200"/>
          </a:xfrm>
          <a:prstGeom prst="rect">
            <a:avLst/>
          </a:prstGeom>
          <a:noFill/>
          <a:ln/>
        </p:spPr>
        <p:txBody>
          <a:bodyPr wrap="square" lIns="0" tIns="0" rIns="0" bIns="0" rtlCol="0" anchor="t"/>
          <a:lstStyle/>
          <a:p>
            <a:pPr algn="l" indent="0" marL="0">
              <a:buNone/>
            </a:pPr>
            <a:r>
              <a:rPr lang="en-US" sz="1300" b="1" dirty="0">
                <a:solidFill>
                  <a:srgbClr val="14213D"/>
                </a:solidFill>
                <a:latin typeface="Calibri" pitchFamily="34" charset="0"/>
                <a:ea typeface="Calibri" pitchFamily="34" charset="-122"/>
                <a:cs typeface="Calibri" pitchFamily="34" charset="-120"/>
              </a:rPr>
              <a:t>Two invariants, enforced by tests</a:t>
            </a:r>
            <a:endParaRPr lang="en-US" sz="1300" dirty="0"/>
          </a:p>
        </p:txBody>
      </p:sp>
      <p:sp>
        <p:nvSpPr>
          <p:cNvPr id="25" name="Text 23"/>
          <p:cNvSpPr txBox="1"/>
          <p:nvPr/>
        </p:nvSpPr>
        <p:spPr>
          <a:xfrm>
            <a:off x="6355080" y="1783080"/>
            <a:ext cx="2194560" cy="2011680"/>
          </a:xfrm>
          <a:prstGeom prst="rect">
            <a:avLst/>
          </a:prstGeom>
          <a:noFill/>
          <a:ln/>
        </p:spPr>
        <p:txBody>
          <a:bodyPr wrap="square" lIns="0" tIns="0" rIns="0" bIns="0" rtlCol="0" anchor="t"/>
          <a:lstStyle/>
          <a:p>
            <a:pPr algn="l" indent="0" marL="0">
              <a:buNone/>
            </a:pPr>
            <a:r>
              <a:rPr lang="en-US" sz="1200" b="1" dirty="0">
                <a:solidFill>
                  <a:srgbClr val="1F2937"/>
                </a:solidFill>
                <a:latin typeface="Calibri" pitchFamily="34" charset="0"/>
                <a:ea typeface="Calibri" pitchFamily="34" charset="-122"/>
                <a:cs typeface="Calibri" pitchFamily="34" charset="-120"/>
              </a:rPr>
              <a:t>The dispatcher never blocks.</a:t>
            </a:r>
            <a:endParaRPr lang="en-US" sz="1200" dirty="0"/>
          </a:p>
          <a:p>
            <a:pPr algn="l" indent="0" marL="0">
              <a:buNone/>
            </a:pPr>
            <a:r>
              <a:rPr lang="en-US" sz="1200" dirty="0">
                <a:solidFill>
                  <a:srgbClr val="1F2937"/>
                </a:solidFill>
                <a:latin typeface="Calibri" pitchFamily="34" charset="0"/>
                <a:ea typeface="Calibri" pitchFamily="34" charset="-122"/>
                <a:cs typeface="Calibri" pitchFamily="34" charset="-120"/>
              </a:rPr>
              <a:t>Slowest handler 0.47 ms against a 20 ms budget.</a:t>
            </a:r>
            <a:endParaRPr lang="en-US" sz="1200" dirty="0"/>
          </a:p>
          <a:p>
            <a:pPr algn="l" indent="0" marL="0">
              <a:buNone/>
            </a:pPr>
            <a:r>
              <a:rPr lang="en-US" sz="1200" dirty="0">
                <a:solidFill>
                  <a:srgbClr val="1F2937"/>
                </a:solidFill>
                <a:latin typeface="Calibri" pitchFamily="34" charset="0"/>
                <a:ea typeface="Calibri" pitchFamily="34" charset="-122"/>
                <a:cs typeface="Calibri" pitchFamily="34" charset="-120"/>
              </a:rPr>
              <a:t> </a:t>
            </a:r>
            <a:endParaRPr lang="en-US" sz="1200" dirty="0"/>
          </a:p>
          <a:p>
            <a:pPr algn="l" indent="0" marL="0">
              <a:buNone/>
            </a:pPr>
            <a:r>
              <a:rPr lang="en-US" sz="1200" b="1" dirty="0">
                <a:solidFill>
                  <a:srgbClr val="1F2937"/>
                </a:solidFill>
                <a:latin typeface="Calibri" pitchFamily="34" charset="0"/>
                <a:ea typeface="Calibri" pitchFamily="34" charset="-122"/>
                <a:cs typeface="Calibri" pitchFamily="34" charset="-120"/>
              </a:rPr>
              <a:t>Every action leaves through one function.</a:t>
            </a:r>
            <a:endParaRPr lang="en-US" sz="1200" dirty="0"/>
          </a:p>
          <a:p>
            <a:pPr algn="l" indent="0" marL="0">
              <a:buNone/>
            </a:pPr>
            <a:r>
              <a:rPr lang="en-US" sz="1200" dirty="0">
                <a:solidFill>
                  <a:srgbClr val="1F2937"/>
                </a:solidFill>
                <a:latin typeface="Calibri" pitchFamily="34" charset="0"/>
                <a:ea typeface="Calibri" pitchFamily="34" charset="-122"/>
                <a:cs typeface="Calibri" pitchFamily="34" charset="-120"/>
              </a:rPr>
              <a:t>put_nowait appears exactly once in the engine.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t"/>
          <a:lstStyle/>
          <a:p>
            <a:pPr indent="0" marL="0">
              <a:buNone/>
            </a:pPr>
            <a:r>
              <a:rPr lang="en-US" sz="2800" b="1" dirty="0">
                <a:solidFill>
                  <a:srgbClr val="14213D"/>
                </a:solidFill>
                <a:latin typeface="Cambria" pitchFamily="34" charset="0"/>
                <a:ea typeface="Cambria" pitchFamily="34" charset="-122"/>
                <a:cs typeface="Cambria" pitchFamily="34" charset="-120"/>
              </a:rPr>
              <a:t>Six mechanisms</a:t>
            </a:r>
            <a:endParaRPr lang="en-US" sz="2800" dirty="0"/>
          </a:p>
        </p:txBody>
      </p:sp>
      <p:sp>
        <p:nvSpPr>
          <p:cNvPr id="3" name="Shape 1"/>
          <p:cNvSpPr/>
          <p:nvPr/>
        </p:nvSpPr>
        <p:spPr>
          <a:xfrm>
            <a:off x="457200" y="1188720"/>
            <a:ext cx="2606040" cy="1508760"/>
          </a:xfrm>
          <a:prstGeom prst="roundRect">
            <a:avLst>
              <a:gd name="adj" fmla="val 4848"/>
            </a:avLst>
          </a:prstGeom>
          <a:solidFill>
            <a:srgbClr val="F1F4F8"/>
          </a:solidFill>
          <a:ln w="12700">
            <a:solidFill>
              <a:srgbClr val="F1F4F8"/>
            </a:solidFill>
            <a:prstDash val="solid"/>
          </a:ln>
        </p:spPr>
      </p:sp>
      <p:sp>
        <p:nvSpPr>
          <p:cNvPr id="4" name="Shape 2"/>
          <p:cNvSpPr/>
          <p:nvPr/>
        </p:nvSpPr>
        <p:spPr>
          <a:xfrm>
            <a:off x="621792" y="1371600"/>
            <a:ext cx="457200" cy="457200"/>
          </a:xfrm>
          <a:prstGeom prst="ellipse">
            <a:avLst/>
          </a:prstGeom>
          <a:solidFill>
            <a:srgbClr val="14213D"/>
          </a:solidFill>
          <a:ln w="12700">
            <a:solidFill>
              <a:srgbClr val="14213D"/>
            </a:solidFill>
            <a:prstDash val="solid"/>
          </a:ln>
        </p:spPr>
      </p:sp>
      <p:sp>
        <p:nvSpPr>
          <p:cNvPr id="5" name="Text 3"/>
          <p:cNvSpPr txBox="1"/>
          <p:nvPr/>
        </p:nvSpPr>
        <p:spPr>
          <a:xfrm>
            <a:off x="621792" y="137160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M1</a:t>
            </a:r>
            <a:endParaRPr lang="en-US" sz="1200" dirty="0"/>
          </a:p>
        </p:txBody>
      </p:sp>
      <p:sp>
        <p:nvSpPr>
          <p:cNvPr id="6" name="Text 4"/>
          <p:cNvSpPr txBox="1"/>
          <p:nvPr/>
        </p:nvSpPr>
        <p:spPr>
          <a:xfrm>
            <a:off x="1188720" y="1389888"/>
            <a:ext cx="1783080" cy="457200"/>
          </a:xfrm>
          <a:prstGeom prst="rect">
            <a:avLst/>
          </a:prstGeom>
          <a:noFill/>
          <a:ln/>
        </p:spPr>
        <p:txBody>
          <a:bodyPr wrap="square" lIns="0" tIns="0" rIns="0" bIns="0" rtlCol="0" anchor="ctr"/>
          <a:lstStyle/>
          <a:p>
            <a:pPr algn="l" indent="0" marL="0">
              <a:buNone/>
            </a:pPr>
            <a:r>
              <a:rPr lang="en-US" sz="1350" b="1" dirty="0">
                <a:solidFill>
                  <a:srgbClr val="14213D"/>
                </a:solidFill>
                <a:latin typeface="Calibri" pitchFamily="34" charset="0"/>
                <a:ea typeface="Calibri" pitchFamily="34" charset="-122"/>
                <a:cs typeface="Calibri" pitchFamily="34" charset="-120"/>
              </a:rPr>
              <a:t>Epoch-versioned state</a:t>
            </a:r>
            <a:endParaRPr lang="en-US" sz="1350" dirty="0"/>
          </a:p>
        </p:txBody>
      </p:sp>
      <p:sp>
        <p:nvSpPr>
          <p:cNvPr id="7" name="Text 5"/>
          <p:cNvSpPr txBox="1"/>
          <p:nvPr/>
        </p:nvSpPr>
        <p:spPr>
          <a:xfrm>
            <a:off x="621792" y="1938528"/>
            <a:ext cx="2286000" cy="731520"/>
          </a:xfrm>
          <a:prstGeom prst="rect">
            <a:avLst/>
          </a:prstGeom>
          <a:noFill/>
          <a:ln/>
        </p:spPr>
        <p:txBody>
          <a:bodyPr wrap="square" lIns="0" tIns="0" rIns="0" bIns="0" rtlCol="0" anchor="t"/>
          <a:lstStyle/>
          <a:p>
            <a:pPr algn="l" indent="0" marL="0">
              <a:buNone/>
            </a:pPr>
            <a:r>
              <a:rPr lang="en-US" sz="1150" dirty="0">
                <a:solidFill>
                  <a:srgbClr val="1F2937"/>
                </a:solidFill>
                <a:latin typeface="Calibri" pitchFamily="34" charset="0"/>
                <a:ea typeface="Calibri" pitchFamily="34" charset="-122"/>
                <a:cs typeface="Calibri" pitchFamily="34" charset="-120"/>
              </a:rPr>
              <a:t>An interruption starts a new epoch; everything conceived earlier is orphaned in one step.</a:t>
            </a:r>
            <a:endParaRPr lang="en-US" sz="1150" dirty="0"/>
          </a:p>
        </p:txBody>
      </p:sp>
      <p:sp>
        <p:nvSpPr>
          <p:cNvPr id="8" name="Shape 6"/>
          <p:cNvSpPr/>
          <p:nvPr/>
        </p:nvSpPr>
        <p:spPr>
          <a:xfrm>
            <a:off x="3246120" y="1188720"/>
            <a:ext cx="2606040" cy="1508760"/>
          </a:xfrm>
          <a:prstGeom prst="roundRect">
            <a:avLst>
              <a:gd name="adj" fmla="val 4848"/>
            </a:avLst>
          </a:prstGeom>
          <a:solidFill>
            <a:srgbClr val="F1F4F8"/>
          </a:solidFill>
          <a:ln w="12700">
            <a:solidFill>
              <a:srgbClr val="F1F4F8"/>
            </a:solidFill>
            <a:prstDash val="solid"/>
          </a:ln>
        </p:spPr>
      </p:sp>
      <p:sp>
        <p:nvSpPr>
          <p:cNvPr id="9" name="Shape 7"/>
          <p:cNvSpPr/>
          <p:nvPr/>
        </p:nvSpPr>
        <p:spPr>
          <a:xfrm>
            <a:off x="3410712" y="1371600"/>
            <a:ext cx="457200" cy="457200"/>
          </a:xfrm>
          <a:prstGeom prst="ellipse">
            <a:avLst/>
          </a:prstGeom>
          <a:solidFill>
            <a:srgbClr val="2A9D8F"/>
          </a:solidFill>
          <a:ln w="12700">
            <a:solidFill>
              <a:srgbClr val="2A9D8F"/>
            </a:solidFill>
            <a:prstDash val="solid"/>
          </a:ln>
        </p:spPr>
      </p:sp>
      <p:sp>
        <p:nvSpPr>
          <p:cNvPr id="10" name="Text 8"/>
          <p:cNvSpPr txBox="1"/>
          <p:nvPr/>
        </p:nvSpPr>
        <p:spPr>
          <a:xfrm>
            <a:off x="3410712" y="137160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M2</a:t>
            </a:r>
            <a:endParaRPr lang="en-US" sz="1200" dirty="0"/>
          </a:p>
        </p:txBody>
      </p:sp>
      <p:sp>
        <p:nvSpPr>
          <p:cNvPr id="11" name="Text 9"/>
          <p:cNvSpPr txBox="1"/>
          <p:nvPr/>
        </p:nvSpPr>
        <p:spPr>
          <a:xfrm>
            <a:off x="3977640" y="1389888"/>
            <a:ext cx="1783080" cy="457200"/>
          </a:xfrm>
          <a:prstGeom prst="rect">
            <a:avLst/>
          </a:prstGeom>
          <a:noFill/>
          <a:ln/>
        </p:spPr>
        <p:txBody>
          <a:bodyPr wrap="square" lIns="0" tIns="0" rIns="0" bIns="0" rtlCol="0" anchor="ctr"/>
          <a:lstStyle/>
          <a:p>
            <a:pPr algn="l" indent="0" marL="0">
              <a:buNone/>
            </a:pPr>
            <a:r>
              <a:rPr lang="en-US" sz="1350" b="1" dirty="0">
                <a:solidFill>
                  <a:srgbClr val="14213D"/>
                </a:solidFill>
                <a:latin typeface="Calibri" pitchFamily="34" charset="0"/>
                <a:ea typeface="Calibri" pitchFamily="34" charset="-122"/>
                <a:cs typeface="Calibri" pitchFamily="34" charset="-120"/>
              </a:rPr>
              <a:t>Reversibility-gated commitment</a:t>
            </a:r>
            <a:endParaRPr lang="en-US" sz="1350" dirty="0"/>
          </a:p>
        </p:txBody>
      </p:sp>
      <p:sp>
        <p:nvSpPr>
          <p:cNvPr id="12" name="Text 10"/>
          <p:cNvSpPr txBox="1"/>
          <p:nvPr/>
        </p:nvSpPr>
        <p:spPr>
          <a:xfrm>
            <a:off x="3410712" y="1938528"/>
            <a:ext cx="2286000" cy="731520"/>
          </a:xfrm>
          <a:prstGeom prst="rect">
            <a:avLst/>
          </a:prstGeom>
          <a:noFill/>
          <a:ln/>
        </p:spPr>
        <p:txBody>
          <a:bodyPr wrap="square" lIns="0" tIns="0" rIns="0" bIns="0" rtlCol="0" anchor="t"/>
          <a:lstStyle/>
          <a:p>
            <a:pPr algn="l" indent="0" marL="0">
              <a:buNone/>
            </a:pPr>
            <a:r>
              <a:rPr lang="en-US" sz="1150" dirty="0">
                <a:solidFill>
                  <a:srgbClr val="1F2937"/>
                </a:solidFill>
                <a:latin typeface="Calibri" pitchFamily="34" charset="0"/>
                <a:ea typeface="Calibri" pitchFamily="34" charset="-122"/>
                <a:cs typeface="Calibri" pitchFamily="34" charset="-120"/>
              </a:rPr>
              <a:t>Read-only work fires freely; irreversible work passes a gate and an idempotency ledger.</a:t>
            </a:r>
            <a:endParaRPr lang="en-US" sz="1150" dirty="0"/>
          </a:p>
        </p:txBody>
      </p:sp>
      <p:sp>
        <p:nvSpPr>
          <p:cNvPr id="13" name="Shape 11"/>
          <p:cNvSpPr/>
          <p:nvPr/>
        </p:nvSpPr>
        <p:spPr>
          <a:xfrm>
            <a:off x="6035040" y="1188720"/>
            <a:ext cx="2606040" cy="1508760"/>
          </a:xfrm>
          <a:prstGeom prst="roundRect">
            <a:avLst>
              <a:gd name="adj" fmla="val 4848"/>
            </a:avLst>
          </a:prstGeom>
          <a:solidFill>
            <a:srgbClr val="F1F4F8"/>
          </a:solidFill>
          <a:ln w="12700">
            <a:solidFill>
              <a:srgbClr val="F1F4F8"/>
            </a:solidFill>
            <a:prstDash val="solid"/>
          </a:ln>
        </p:spPr>
      </p:sp>
      <p:sp>
        <p:nvSpPr>
          <p:cNvPr id="14" name="Shape 12"/>
          <p:cNvSpPr/>
          <p:nvPr/>
        </p:nvSpPr>
        <p:spPr>
          <a:xfrm>
            <a:off x="6199632" y="1371600"/>
            <a:ext cx="457200" cy="457200"/>
          </a:xfrm>
          <a:prstGeom prst="ellipse">
            <a:avLst/>
          </a:prstGeom>
          <a:solidFill>
            <a:srgbClr val="14213D"/>
          </a:solidFill>
          <a:ln w="12700">
            <a:solidFill>
              <a:srgbClr val="14213D"/>
            </a:solidFill>
            <a:prstDash val="solid"/>
          </a:ln>
        </p:spPr>
      </p:sp>
      <p:sp>
        <p:nvSpPr>
          <p:cNvPr id="15" name="Text 13"/>
          <p:cNvSpPr txBox="1"/>
          <p:nvPr/>
        </p:nvSpPr>
        <p:spPr>
          <a:xfrm>
            <a:off x="6199632" y="137160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M3</a:t>
            </a:r>
            <a:endParaRPr lang="en-US" sz="1200" dirty="0"/>
          </a:p>
        </p:txBody>
      </p:sp>
      <p:sp>
        <p:nvSpPr>
          <p:cNvPr id="16" name="Text 14"/>
          <p:cNvSpPr txBox="1"/>
          <p:nvPr/>
        </p:nvSpPr>
        <p:spPr>
          <a:xfrm>
            <a:off x="6766560" y="1389888"/>
            <a:ext cx="1783080" cy="457200"/>
          </a:xfrm>
          <a:prstGeom prst="rect">
            <a:avLst/>
          </a:prstGeom>
          <a:noFill/>
          <a:ln/>
        </p:spPr>
        <p:txBody>
          <a:bodyPr wrap="square" lIns="0" tIns="0" rIns="0" bIns="0" rtlCol="0" anchor="ctr"/>
          <a:lstStyle/>
          <a:p>
            <a:pPr algn="l" indent="0" marL="0">
              <a:buNone/>
            </a:pPr>
            <a:r>
              <a:rPr lang="en-US" sz="1350" b="1" dirty="0">
                <a:solidFill>
                  <a:srgbClr val="14213D"/>
                </a:solidFill>
                <a:latin typeface="Calibri" pitchFamily="34" charset="0"/>
                <a:ea typeface="Calibri" pitchFamily="34" charset="-122"/>
                <a:cs typeface="Calibri" pitchFamily="34" charset="-120"/>
              </a:rPr>
              <a:t>Slot provenance</a:t>
            </a:r>
            <a:endParaRPr lang="en-US" sz="1350" dirty="0"/>
          </a:p>
        </p:txBody>
      </p:sp>
      <p:sp>
        <p:nvSpPr>
          <p:cNvPr id="17" name="Text 15"/>
          <p:cNvSpPr txBox="1"/>
          <p:nvPr/>
        </p:nvSpPr>
        <p:spPr>
          <a:xfrm>
            <a:off x="6199632" y="1938528"/>
            <a:ext cx="2286000" cy="731520"/>
          </a:xfrm>
          <a:prstGeom prst="rect">
            <a:avLst/>
          </a:prstGeom>
          <a:noFill/>
          <a:ln/>
        </p:spPr>
        <p:txBody>
          <a:bodyPr wrap="square" lIns="0" tIns="0" rIns="0" bIns="0" rtlCol="0" anchor="t"/>
          <a:lstStyle/>
          <a:p>
            <a:pPr algn="l" indent="0" marL="0">
              <a:buNone/>
            </a:pPr>
            <a:r>
              <a:rPr lang="en-US" sz="1150" dirty="0">
                <a:solidFill>
                  <a:srgbClr val="1F2937"/>
                </a:solidFill>
                <a:latin typeface="Calibri" pitchFamily="34" charset="0"/>
                <a:ea typeface="Calibri" pitchFamily="34" charset="-122"/>
                <a:cs typeface="Calibri" pitchFamily="34" charset="-120"/>
              </a:rPr>
              <a:t>Each value remembers where it came from, so a correction rewrites one slot and nothing else.</a:t>
            </a:r>
            <a:endParaRPr lang="en-US" sz="1150" dirty="0"/>
          </a:p>
        </p:txBody>
      </p:sp>
      <p:sp>
        <p:nvSpPr>
          <p:cNvPr id="18" name="Shape 16"/>
          <p:cNvSpPr/>
          <p:nvPr/>
        </p:nvSpPr>
        <p:spPr>
          <a:xfrm>
            <a:off x="457200" y="2880360"/>
            <a:ext cx="2606040" cy="1508760"/>
          </a:xfrm>
          <a:prstGeom prst="roundRect">
            <a:avLst>
              <a:gd name="adj" fmla="val 4848"/>
            </a:avLst>
          </a:prstGeom>
          <a:solidFill>
            <a:srgbClr val="F1F4F8"/>
          </a:solidFill>
          <a:ln w="12700">
            <a:solidFill>
              <a:srgbClr val="F1F4F8"/>
            </a:solidFill>
            <a:prstDash val="solid"/>
          </a:ln>
        </p:spPr>
      </p:sp>
      <p:sp>
        <p:nvSpPr>
          <p:cNvPr id="19" name="Shape 17"/>
          <p:cNvSpPr/>
          <p:nvPr/>
        </p:nvSpPr>
        <p:spPr>
          <a:xfrm>
            <a:off x="621792" y="3063240"/>
            <a:ext cx="457200" cy="457200"/>
          </a:xfrm>
          <a:prstGeom prst="ellipse">
            <a:avLst/>
          </a:prstGeom>
          <a:solidFill>
            <a:srgbClr val="E9A23B"/>
          </a:solidFill>
          <a:ln w="12700">
            <a:solidFill>
              <a:srgbClr val="E9A23B"/>
            </a:solidFill>
            <a:prstDash val="solid"/>
          </a:ln>
        </p:spPr>
      </p:sp>
      <p:sp>
        <p:nvSpPr>
          <p:cNvPr id="20" name="Text 18"/>
          <p:cNvSpPr txBox="1"/>
          <p:nvPr/>
        </p:nvSpPr>
        <p:spPr>
          <a:xfrm>
            <a:off x="621792" y="306324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M4</a:t>
            </a:r>
            <a:endParaRPr lang="en-US" sz="1200" dirty="0"/>
          </a:p>
        </p:txBody>
      </p:sp>
      <p:sp>
        <p:nvSpPr>
          <p:cNvPr id="21" name="Text 19"/>
          <p:cNvSpPr txBox="1"/>
          <p:nvPr/>
        </p:nvSpPr>
        <p:spPr>
          <a:xfrm>
            <a:off x="1188720" y="3081528"/>
            <a:ext cx="1783080" cy="457200"/>
          </a:xfrm>
          <a:prstGeom prst="rect">
            <a:avLst/>
          </a:prstGeom>
          <a:noFill/>
          <a:ln/>
        </p:spPr>
        <p:txBody>
          <a:bodyPr wrap="square" lIns="0" tIns="0" rIns="0" bIns="0" rtlCol="0" anchor="ctr"/>
          <a:lstStyle/>
          <a:p>
            <a:pPr algn="l" indent="0" marL="0">
              <a:buNone/>
            </a:pPr>
            <a:r>
              <a:rPr lang="en-US" sz="1350" b="1" dirty="0">
                <a:solidFill>
                  <a:srgbClr val="14213D"/>
                </a:solidFill>
                <a:latin typeface="Calibri" pitchFamily="34" charset="0"/>
                <a:ea typeface="Calibri" pitchFamily="34" charset="-122"/>
                <a:cs typeface="Calibri" pitchFamily="34" charset="-120"/>
              </a:rPr>
              <a:t>Perception-ahead</a:t>
            </a:r>
            <a:endParaRPr lang="en-US" sz="1350" dirty="0"/>
          </a:p>
        </p:txBody>
      </p:sp>
      <p:sp>
        <p:nvSpPr>
          <p:cNvPr id="22" name="Text 20"/>
          <p:cNvSpPr txBox="1"/>
          <p:nvPr/>
        </p:nvSpPr>
        <p:spPr>
          <a:xfrm>
            <a:off x="621792" y="3630168"/>
            <a:ext cx="2286000" cy="731520"/>
          </a:xfrm>
          <a:prstGeom prst="rect">
            <a:avLst/>
          </a:prstGeom>
          <a:noFill/>
          <a:ln/>
        </p:spPr>
        <p:txBody>
          <a:bodyPr wrap="square" lIns="0" tIns="0" rIns="0" bIns="0" rtlCol="0" anchor="t"/>
          <a:lstStyle/>
          <a:p>
            <a:pPr algn="l" indent="0" marL="0">
              <a:buNone/>
            </a:pPr>
            <a:r>
              <a:rPr lang="en-US" sz="1150" dirty="0">
                <a:solidFill>
                  <a:srgbClr val="1F2937"/>
                </a:solidFill>
                <a:latin typeface="Calibri" pitchFamily="34" charset="0"/>
                <a:ea typeface="Calibri" pitchFamily="34" charset="-122"/>
                <a:cs typeface="Calibri" pitchFamily="34" charset="-120"/>
              </a:rPr>
              <a:t>A frame is read when it arrives; a question about it waits for the reading, not the voice.</a:t>
            </a:r>
            <a:endParaRPr lang="en-US" sz="1150" dirty="0"/>
          </a:p>
        </p:txBody>
      </p:sp>
      <p:sp>
        <p:nvSpPr>
          <p:cNvPr id="23" name="Shape 21"/>
          <p:cNvSpPr/>
          <p:nvPr/>
        </p:nvSpPr>
        <p:spPr>
          <a:xfrm>
            <a:off x="3246120" y="2880360"/>
            <a:ext cx="2606040" cy="1508760"/>
          </a:xfrm>
          <a:prstGeom prst="roundRect">
            <a:avLst>
              <a:gd name="adj" fmla="val 4848"/>
            </a:avLst>
          </a:prstGeom>
          <a:solidFill>
            <a:srgbClr val="F1F4F8"/>
          </a:solidFill>
          <a:ln w="12700">
            <a:solidFill>
              <a:srgbClr val="F1F4F8"/>
            </a:solidFill>
            <a:prstDash val="solid"/>
          </a:ln>
        </p:spPr>
      </p:sp>
      <p:sp>
        <p:nvSpPr>
          <p:cNvPr id="24" name="Shape 22"/>
          <p:cNvSpPr/>
          <p:nvPr/>
        </p:nvSpPr>
        <p:spPr>
          <a:xfrm>
            <a:off x="3410712" y="3063240"/>
            <a:ext cx="457200" cy="457200"/>
          </a:xfrm>
          <a:prstGeom prst="ellipse">
            <a:avLst/>
          </a:prstGeom>
          <a:solidFill>
            <a:srgbClr val="D8472C"/>
          </a:solidFill>
          <a:ln w="12700">
            <a:solidFill>
              <a:srgbClr val="D8472C"/>
            </a:solidFill>
            <a:prstDash val="solid"/>
          </a:ln>
        </p:spPr>
      </p:sp>
      <p:sp>
        <p:nvSpPr>
          <p:cNvPr id="25" name="Text 23"/>
          <p:cNvSpPr txBox="1"/>
          <p:nvPr/>
        </p:nvSpPr>
        <p:spPr>
          <a:xfrm>
            <a:off x="3410712" y="306324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M5</a:t>
            </a:r>
            <a:endParaRPr lang="en-US" sz="1200" dirty="0"/>
          </a:p>
        </p:txBody>
      </p:sp>
      <p:sp>
        <p:nvSpPr>
          <p:cNvPr id="26" name="Text 24"/>
          <p:cNvSpPr txBox="1"/>
          <p:nvPr/>
        </p:nvSpPr>
        <p:spPr>
          <a:xfrm>
            <a:off x="3977640" y="3081528"/>
            <a:ext cx="1783080" cy="457200"/>
          </a:xfrm>
          <a:prstGeom prst="rect">
            <a:avLst/>
          </a:prstGeom>
          <a:noFill/>
          <a:ln/>
        </p:spPr>
        <p:txBody>
          <a:bodyPr wrap="square" lIns="0" tIns="0" rIns="0" bIns="0" rtlCol="0" anchor="ctr"/>
          <a:lstStyle/>
          <a:p>
            <a:pPr algn="l" indent="0" marL="0">
              <a:buNone/>
            </a:pPr>
            <a:r>
              <a:rPr lang="en-US" sz="1350" b="1" dirty="0">
                <a:solidFill>
                  <a:srgbClr val="14213D"/>
                </a:solidFill>
                <a:latin typeface="Calibri" pitchFamily="34" charset="0"/>
                <a:ea typeface="Calibri" pitchFamily="34" charset="-122"/>
                <a:cs typeface="Calibri" pitchFamily="34" charset="-120"/>
              </a:rPr>
              <a:t>Calibrated abstention</a:t>
            </a:r>
            <a:endParaRPr lang="en-US" sz="1350" dirty="0"/>
          </a:p>
        </p:txBody>
      </p:sp>
      <p:sp>
        <p:nvSpPr>
          <p:cNvPr id="27" name="Text 25"/>
          <p:cNvSpPr txBox="1"/>
          <p:nvPr/>
        </p:nvSpPr>
        <p:spPr>
          <a:xfrm>
            <a:off x="3410712" y="3630168"/>
            <a:ext cx="2286000" cy="731520"/>
          </a:xfrm>
          <a:prstGeom prst="rect">
            <a:avLst/>
          </a:prstGeom>
          <a:noFill/>
          <a:ln/>
        </p:spPr>
        <p:txBody>
          <a:bodyPr wrap="square" lIns="0" tIns="0" rIns="0" bIns="0" rtlCol="0" anchor="t"/>
          <a:lstStyle/>
          <a:p>
            <a:pPr algn="l" indent="0" marL="0">
              <a:buNone/>
            </a:pPr>
            <a:r>
              <a:rPr lang="en-US" sz="1150" dirty="0">
                <a:solidFill>
                  <a:srgbClr val="1F2937"/>
                </a:solidFill>
                <a:latin typeface="Calibri" pitchFamily="34" charset="0"/>
                <a:ea typeface="Calibri" pitchFamily="34" charset="-122"/>
                <a:cs typeface="Calibri" pitchFamily="34" charset="-120"/>
              </a:rPr>
              <a:t>Confidence per word, not per sentence; a doubted value is confirmed by name.</a:t>
            </a:r>
            <a:endParaRPr lang="en-US" sz="1150" dirty="0"/>
          </a:p>
        </p:txBody>
      </p:sp>
      <p:sp>
        <p:nvSpPr>
          <p:cNvPr id="28" name="Shape 26"/>
          <p:cNvSpPr/>
          <p:nvPr/>
        </p:nvSpPr>
        <p:spPr>
          <a:xfrm>
            <a:off x="6035040" y="2880360"/>
            <a:ext cx="2606040" cy="1508760"/>
          </a:xfrm>
          <a:prstGeom prst="roundRect">
            <a:avLst>
              <a:gd name="adj" fmla="val 4848"/>
            </a:avLst>
          </a:prstGeom>
          <a:solidFill>
            <a:srgbClr val="F1F4F8"/>
          </a:solidFill>
          <a:ln w="12700">
            <a:solidFill>
              <a:srgbClr val="F1F4F8"/>
            </a:solidFill>
            <a:prstDash val="solid"/>
          </a:ln>
        </p:spPr>
      </p:sp>
      <p:sp>
        <p:nvSpPr>
          <p:cNvPr id="29" name="Shape 27"/>
          <p:cNvSpPr/>
          <p:nvPr/>
        </p:nvSpPr>
        <p:spPr>
          <a:xfrm>
            <a:off x="6199632" y="3063240"/>
            <a:ext cx="457200" cy="457200"/>
          </a:xfrm>
          <a:prstGeom prst="ellipse">
            <a:avLst/>
          </a:prstGeom>
          <a:solidFill>
            <a:srgbClr val="14213D"/>
          </a:solidFill>
          <a:ln w="12700">
            <a:solidFill>
              <a:srgbClr val="14213D"/>
            </a:solidFill>
            <a:prstDash val="solid"/>
          </a:ln>
        </p:spPr>
      </p:sp>
      <p:sp>
        <p:nvSpPr>
          <p:cNvPr id="30" name="Text 28"/>
          <p:cNvSpPr txBox="1"/>
          <p:nvPr/>
        </p:nvSpPr>
        <p:spPr>
          <a:xfrm>
            <a:off x="6199632" y="306324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M6</a:t>
            </a:r>
            <a:endParaRPr lang="en-US" sz="1200" dirty="0"/>
          </a:p>
        </p:txBody>
      </p:sp>
      <p:sp>
        <p:nvSpPr>
          <p:cNvPr id="31" name="Text 29"/>
          <p:cNvSpPr txBox="1"/>
          <p:nvPr/>
        </p:nvSpPr>
        <p:spPr>
          <a:xfrm>
            <a:off x="6766560" y="3081528"/>
            <a:ext cx="1783080" cy="457200"/>
          </a:xfrm>
          <a:prstGeom prst="rect">
            <a:avLst/>
          </a:prstGeom>
          <a:noFill/>
          <a:ln/>
        </p:spPr>
        <p:txBody>
          <a:bodyPr wrap="square" lIns="0" tIns="0" rIns="0" bIns="0" rtlCol="0" anchor="ctr"/>
          <a:lstStyle/>
          <a:p>
            <a:pPr algn="l" indent="0" marL="0">
              <a:buNone/>
            </a:pPr>
            <a:r>
              <a:rPr lang="en-US" sz="1350" b="1" dirty="0">
                <a:solidFill>
                  <a:srgbClr val="14213D"/>
                </a:solidFill>
                <a:latin typeface="Calibri" pitchFamily="34" charset="0"/>
                <a:ea typeface="Calibri" pitchFamily="34" charset="-122"/>
                <a:cs typeface="Calibri" pitchFamily="34" charset="-120"/>
              </a:rPr>
              <a:t>Conversational undo</a:t>
            </a:r>
            <a:endParaRPr lang="en-US" sz="1350" dirty="0"/>
          </a:p>
        </p:txBody>
      </p:sp>
      <p:sp>
        <p:nvSpPr>
          <p:cNvPr id="32" name="Text 30"/>
          <p:cNvSpPr txBox="1"/>
          <p:nvPr/>
        </p:nvSpPr>
        <p:spPr>
          <a:xfrm>
            <a:off x="6199632" y="3630168"/>
            <a:ext cx="2286000" cy="731520"/>
          </a:xfrm>
          <a:prstGeom prst="rect">
            <a:avLst/>
          </a:prstGeom>
          <a:noFill/>
          <a:ln/>
        </p:spPr>
        <p:txBody>
          <a:bodyPr wrap="square" lIns="0" tIns="0" rIns="0" bIns="0" rtlCol="0" anchor="t"/>
          <a:lstStyle/>
          <a:p>
            <a:pPr algn="l" indent="0" marL="0">
              <a:buNone/>
            </a:pPr>
            <a:r>
              <a:rPr lang="en-US" sz="1150" dirty="0">
                <a:solidFill>
                  <a:srgbClr val="1F2937"/>
                </a:solidFill>
                <a:latin typeface="Calibri" pitchFamily="34" charset="0"/>
                <a:ea typeface="Calibri" pitchFamily="34" charset="-122"/>
                <a:cs typeface="Calibri" pitchFamily="34" charset="-120"/>
              </a:rPr>
              <a:t>"Go back to what I said" restores an epoch checkpoint.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t"/>
          <a:lstStyle/>
          <a:p>
            <a:pPr indent="0" marL="0">
              <a:buNone/>
            </a:pPr>
            <a:r>
              <a:rPr lang="en-US" sz="2800" b="1" dirty="0">
                <a:solidFill>
                  <a:srgbClr val="14213D"/>
                </a:solidFill>
                <a:latin typeface="Cambria" pitchFamily="34" charset="0"/>
                <a:ea typeface="Cambria" pitchFamily="34" charset="-122"/>
                <a:cs typeface="Cambria" pitchFamily="34" charset="-120"/>
              </a:rPr>
              <a:t>M1 in action: two corrections during a booking</a:t>
            </a:r>
            <a:endParaRPr lang="en-US" sz="2800" dirty="0"/>
          </a:p>
        </p:txBody>
      </p:sp>
      <p:sp>
        <p:nvSpPr>
          <p:cNvPr id="3" name="Text 1"/>
          <p:cNvSpPr txBox="1"/>
          <p:nvPr/>
        </p:nvSpPr>
        <p:spPr>
          <a:xfrm>
            <a:off x="457200" y="1325880"/>
            <a:ext cx="731520" cy="274320"/>
          </a:xfrm>
          <a:prstGeom prst="rect">
            <a:avLst/>
          </a:prstGeom>
          <a:noFill/>
          <a:ln/>
        </p:spPr>
        <p:txBody>
          <a:bodyPr wrap="square" lIns="0" tIns="0" rIns="0" bIns="0" rtlCol="0" anchor="t"/>
          <a:lstStyle/>
          <a:p>
            <a:pPr algn="l" indent="0" marL="0">
              <a:buNone/>
            </a:pPr>
            <a:r>
              <a:rPr lang="en-US" sz="1100" b="1" dirty="0">
                <a:solidFill>
                  <a:srgbClr val="5B6472"/>
                </a:solidFill>
                <a:latin typeface="Calibri" pitchFamily="34" charset="0"/>
                <a:ea typeface="Calibri" pitchFamily="34" charset="-122"/>
                <a:cs typeface="Calibri" pitchFamily="34" charset="-120"/>
              </a:rPr>
              <a:t>user</a:t>
            </a:r>
            <a:endParaRPr lang="en-US" sz="1100" dirty="0"/>
          </a:p>
        </p:txBody>
      </p:sp>
      <p:sp>
        <p:nvSpPr>
          <p:cNvPr id="4" name="Text 2"/>
          <p:cNvSpPr txBox="1"/>
          <p:nvPr/>
        </p:nvSpPr>
        <p:spPr>
          <a:xfrm>
            <a:off x="457200" y="2057400"/>
            <a:ext cx="731520" cy="274320"/>
          </a:xfrm>
          <a:prstGeom prst="rect">
            <a:avLst/>
          </a:prstGeom>
          <a:noFill/>
          <a:ln/>
        </p:spPr>
        <p:txBody>
          <a:bodyPr wrap="square" lIns="0" tIns="0" rIns="0" bIns="0" rtlCol="0" anchor="t"/>
          <a:lstStyle/>
          <a:p>
            <a:pPr algn="l" indent="0" marL="0">
              <a:buNone/>
            </a:pPr>
            <a:r>
              <a:rPr lang="en-US" sz="1100" b="1" dirty="0">
                <a:solidFill>
                  <a:srgbClr val="5B6472"/>
                </a:solidFill>
                <a:latin typeface="Calibri" pitchFamily="34" charset="0"/>
                <a:ea typeface="Calibri" pitchFamily="34" charset="-122"/>
                <a:cs typeface="Calibri" pitchFamily="34" charset="-120"/>
              </a:rPr>
              <a:t>tools</a:t>
            </a:r>
            <a:endParaRPr lang="en-US" sz="1100" dirty="0"/>
          </a:p>
        </p:txBody>
      </p:sp>
      <p:sp>
        <p:nvSpPr>
          <p:cNvPr id="5" name="Shape 3"/>
          <p:cNvSpPr/>
          <p:nvPr/>
        </p:nvSpPr>
        <p:spPr>
          <a:xfrm>
            <a:off x="2692255" y="1399032"/>
            <a:ext cx="128016" cy="128016"/>
          </a:xfrm>
          <a:prstGeom prst="ellipse">
            <a:avLst/>
          </a:prstGeom>
          <a:solidFill>
            <a:srgbClr val="14213D"/>
          </a:solidFill>
          <a:ln w="12700">
            <a:solidFill>
              <a:srgbClr val="14213D"/>
            </a:solidFill>
            <a:prstDash val="solid"/>
          </a:ln>
        </p:spPr>
      </p:sp>
      <p:sp>
        <p:nvSpPr>
          <p:cNvPr id="6" name="Shape 4"/>
          <p:cNvSpPr/>
          <p:nvPr/>
        </p:nvSpPr>
        <p:spPr>
          <a:xfrm>
            <a:off x="5478998" y="1399032"/>
            <a:ext cx="128016" cy="128016"/>
          </a:xfrm>
          <a:prstGeom prst="ellipse">
            <a:avLst/>
          </a:prstGeom>
          <a:solidFill>
            <a:srgbClr val="D8472C"/>
          </a:solidFill>
          <a:ln w="12700">
            <a:solidFill>
              <a:srgbClr val="D8472C"/>
            </a:solidFill>
            <a:prstDash val="solid"/>
          </a:ln>
        </p:spPr>
      </p:sp>
      <p:sp>
        <p:nvSpPr>
          <p:cNvPr id="7" name="Shape 5"/>
          <p:cNvSpPr/>
          <p:nvPr/>
        </p:nvSpPr>
        <p:spPr>
          <a:xfrm>
            <a:off x="5740255" y="1399032"/>
            <a:ext cx="128016" cy="128016"/>
          </a:xfrm>
          <a:prstGeom prst="ellipse">
            <a:avLst/>
          </a:prstGeom>
          <a:solidFill>
            <a:srgbClr val="D8472C"/>
          </a:solidFill>
          <a:ln w="12700">
            <a:solidFill>
              <a:srgbClr val="D8472C"/>
            </a:solidFill>
            <a:prstDash val="solid"/>
          </a:ln>
        </p:spPr>
      </p:sp>
      <p:sp>
        <p:nvSpPr>
          <p:cNvPr id="8" name="Text 6"/>
          <p:cNvSpPr txBox="1"/>
          <p:nvPr/>
        </p:nvSpPr>
        <p:spPr>
          <a:xfrm>
            <a:off x="2710543" y="1024128"/>
            <a:ext cx="3840480" cy="274320"/>
          </a:xfrm>
          <a:prstGeom prst="rect">
            <a:avLst/>
          </a:prstGeom>
          <a:noFill/>
          <a:ln/>
        </p:spPr>
        <p:txBody>
          <a:bodyPr wrap="square" lIns="0" tIns="0" rIns="0" bIns="0" rtlCol="0" anchor="t"/>
          <a:lstStyle/>
          <a:p>
            <a:pPr algn="l" indent="0" marL="0">
              <a:buNone/>
            </a:pPr>
            <a:r>
              <a:rPr lang="en-US" sz="1000" i="1" dirty="0">
                <a:solidFill>
                  <a:srgbClr val="14213D"/>
                </a:solidFill>
                <a:latin typeface="Calibri" pitchFamily="34" charset="0"/>
                <a:ea typeface="Calibri" pitchFamily="34" charset="-122"/>
                <a:cs typeface="Calibri" pitchFamily="34" charset="-120"/>
              </a:rPr>
              <a:t>"find a flight to Denver and book the 8 AM one for Alice"</a:t>
            </a:r>
            <a:endParaRPr lang="en-US" sz="1000" dirty="0"/>
          </a:p>
        </p:txBody>
      </p:sp>
      <p:sp>
        <p:nvSpPr>
          <p:cNvPr id="9" name="Text 7"/>
          <p:cNvSpPr txBox="1"/>
          <p:nvPr/>
        </p:nvSpPr>
        <p:spPr>
          <a:xfrm>
            <a:off x="5913991" y="1344168"/>
            <a:ext cx="3291840" cy="274320"/>
          </a:xfrm>
          <a:prstGeom prst="rect">
            <a:avLst/>
          </a:prstGeom>
          <a:noFill/>
          <a:ln/>
        </p:spPr>
        <p:txBody>
          <a:bodyPr wrap="square" lIns="0" tIns="0" rIns="0" bIns="0" rtlCol="0" anchor="t"/>
          <a:lstStyle/>
          <a:p>
            <a:pPr algn="l" indent="0" marL="0">
              <a:buNone/>
            </a:pPr>
            <a:r>
              <a:rPr lang="en-US" sz="1000" i="1" dirty="0">
                <a:solidFill>
                  <a:srgbClr val="D8472C"/>
                </a:solidFill>
                <a:latin typeface="Calibri" pitchFamily="34" charset="0"/>
                <a:ea typeface="Calibri" pitchFamily="34" charset="-122"/>
                <a:cs typeface="Calibri" pitchFamily="34" charset="-120"/>
              </a:rPr>
              <a:t>"make it the 2 PM"  then  "for Priya, not Alice"</a:t>
            </a:r>
            <a:endParaRPr lang="en-US" sz="1000" dirty="0"/>
          </a:p>
        </p:txBody>
      </p:sp>
      <p:sp>
        <p:nvSpPr>
          <p:cNvPr id="10" name="Shape 8"/>
          <p:cNvSpPr/>
          <p:nvPr/>
        </p:nvSpPr>
        <p:spPr>
          <a:xfrm>
            <a:off x="5543006" y="1280160"/>
            <a:ext cx="0" cy="2377440"/>
          </a:xfrm>
          <a:prstGeom prst="line">
            <a:avLst/>
          </a:prstGeom>
          <a:noFill/>
          <a:ln w="15875">
            <a:solidFill>
              <a:srgbClr val="D8472C"/>
            </a:solidFill>
            <a:prstDash val="dash"/>
          </a:ln>
        </p:spPr>
      </p:sp>
      <p:sp>
        <p:nvSpPr>
          <p:cNvPr id="11" name="Shape 9"/>
          <p:cNvSpPr/>
          <p:nvPr/>
        </p:nvSpPr>
        <p:spPr>
          <a:xfrm>
            <a:off x="5804263" y="1280160"/>
            <a:ext cx="0" cy="2377440"/>
          </a:xfrm>
          <a:prstGeom prst="line">
            <a:avLst/>
          </a:prstGeom>
          <a:noFill/>
          <a:ln w="15875">
            <a:solidFill>
              <a:srgbClr val="D8472C"/>
            </a:solidFill>
            <a:prstDash val="dash"/>
          </a:ln>
        </p:spPr>
      </p:sp>
      <p:sp>
        <p:nvSpPr>
          <p:cNvPr id="12" name="Shape 10"/>
          <p:cNvSpPr/>
          <p:nvPr/>
        </p:nvSpPr>
        <p:spPr>
          <a:xfrm>
            <a:off x="2756263" y="2011680"/>
            <a:ext cx="2090057" cy="237744"/>
          </a:xfrm>
          <a:prstGeom prst="roundRect">
            <a:avLst>
              <a:gd name="adj" fmla="val 23077"/>
            </a:avLst>
          </a:prstGeom>
          <a:solidFill>
            <a:srgbClr val="2A9D8F"/>
          </a:solidFill>
          <a:ln w="12700">
            <a:solidFill>
              <a:srgbClr val="2A9D8F"/>
            </a:solidFill>
            <a:prstDash val="solid"/>
          </a:ln>
        </p:spPr>
      </p:sp>
      <p:sp>
        <p:nvSpPr>
          <p:cNvPr id="13" name="Text 11"/>
          <p:cNvSpPr txBox="1"/>
          <p:nvPr/>
        </p:nvSpPr>
        <p:spPr>
          <a:xfrm>
            <a:off x="2811127" y="2011680"/>
            <a:ext cx="2377440" cy="237744"/>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  search(Denver)</a:t>
            </a:r>
            <a:endParaRPr lang="en-US" sz="950" dirty="0"/>
          </a:p>
        </p:txBody>
      </p:sp>
      <p:sp>
        <p:nvSpPr>
          <p:cNvPr id="14" name="Shape 12"/>
          <p:cNvSpPr/>
          <p:nvPr/>
        </p:nvSpPr>
        <p:spPr>
          <a:xfrm>
            <a:off x="4846320" y="2423160"/>
            <a:ext cx="696686" cy="237744"/>
          </a:xfrm>
          <a:prstGeom prst="roundRect">
            <a:avLst>
              <a:gd name="adj" fmla="val 23077"/>
            </a:avLst>
          </a:prstGeom>
          <a:solidFill>
            <a:srgbClr val="FFFFFF">
              <a:alpha val="0"/>
            </a:srgbClr>
          </a:solidFill>
          <a:ln w="22225">
            <a:solidFill>
              <a:srgbClr val="D8472C"/>
            </a:solidFill>
            <a:prstDash val="dash"/>
          </a:ln>
        </p:spPr>
      </p:sp>
      <p:sp>
        <p:nvSpPr>
          <p:cNvPr id="15" name="Text 13"/>
          <p:cNvSpPr txBox="1"/>
          <p:nvPr/>
        </p:nvSpPr>
        <p:spPr>
          <a:xfrm>
            <a:off x="3063240" y="2423160"/>
            <a:ext cx="1737360" cy="237744"/>
          </a:xfrm>
          <a:prstGeom prst="rect">
            <a:avLst/>
          </a:prstGeom>
          <a:noFill/>
          <a:ln/>
        </p:spPr>
        <p:txBody>
          <a:bodyPr wrap="square" lIns="0" tIns="0" rIns="0" bIns="0" rtlCol="0" anchor="ctr"/>
          <a:lstStyle/>
          <a:p>
            <a:pPr algn="r" indent="0" marL="0">
              <a:buNone/>
            </a:pPr>
            <a:r>
              <a:rPr lang="en-US" sz="950" dirty="0">
                <a:solidFill>
                  <a:srgbClr val="D8472C"/>
                </a:solidFill>
                <a:latin typeface="Calibri" pitchFamily="34" charset="0"/>
                <a:ea typeface="Calibri" pitchFamily="34" charset="-122"/>
                <a:cs typeface="Calibri" pitchFamily="34" charset="-120"/>
              </a:rPr>
              <a:t>book(8 AM, Alice) - cancelled</a:t>
            </a:r>
            <a:endParaRPr lang="en-US" sz="950" dirty="0"/>
          </a:p>
        </p:txBody>
      </p:sp>
      <p:sp>
        <p:nvSpPr>
          <p:cNvPr id="16" name="Shape 14"/>
          <p:cNvSpPr/>
          <p:nvPr/>
        </p:nvSpPr>
        <p:spPr>
          <a:xfrm>
            <a:off x="5543006" y="2834640"/>
            <a:ext cx="470263" cy="237744"/>
          </a:xfrm>
          <a:prstGeom prst="roundRect">
            <a:avLst>
              <a:gd name="adj" fmla="val 23077"/>
            </a:avLst>
          </a:prstGeom>
          <a:solidFill>
            <a:srgbClr val="FFFFFF">
              <a:alpha val="0"/>
            </a:srgbClr>
          </a:solidFill>
          <a:ln w="22225">
            <a:solidFill>
              <a:srgbClr val="E9A23B"/>
            </a:solidFill>
            <a:prstDash val="dash"/>
          </a:ln>
        </p:spPr>
      </p:sp>
      <p:sp>
        <p:nvSpPr>
          <p:cNvPr id="17" name="Text 15"/>
          <p:cNvSpPr txBox="1"/>
          <p:nvPr/>
        </p:nvSpPr>
        <p:spPr>
          <a:xfrm>
            <a:off x="2845526" y="2834640"/>
            <a:ext cx="2651760" cy="237744"/>
          </a:xfrm>
          <a:prstGeom prst="rect">
            <a:avLst/>
          </a:prstGeom>
          <a:noFill/>
          <a:ln/>
        </p:spPr>
        <p:txBody>
          <a:bodyPr wrap="square" lIns="0" tIns="0" rIns="0" bIns="0" rtlCol="0" anchor="ctr"/>
          <a:lstStyle/>
          <a:p>
            <a:pPr algn="r" indent="0" marL="0">
              <a:buNone/>
            </a:pPr>
            <a:r>
              <a:rPr lang="en-US" sz="950" dirty="0">
                <a:solidFill>
                  <a:srgbClr val="E9A23B"/>
                </a:solidFill>
                <a:latin typeface="Calibri" pitchFamily="34" charset="0"/>
                <a:ea typeface="Calibri" pitchFamily="34" charset="-122"/>
                <a:cs typeface="Calibri" pitchFamily="34" charset="-120"/>
              </a:rPr>
              <a:t>book(2 PM, Alice) - held, dropped, never sent</a:t>
            </a:r>
            <a:endParaRPr lang="en-US" sz="950" dirty="0"/>
          </a:p>
        </p:txBody>
      </p:sp>
      <p:sp>
        <p:nvSpPr>
          <p:cNvPr id="18" name="Shape 16"/>
          <p:cNvSpPr/>
          <p:nvPr/>
        </p:nvSpPr>
        <p:spPr>
          <a:xfrm>
            <a:off x="6326777" y="3246120"/>
            <a:ext cx="1741714" cy="237744"/>
          </a:xfrm>
          <a:prstGeom prst="roundRect">
            <a:avLst>
              <a:gd name="adj" fmla="val 23077"/>
            </a:avLst>
          </a:prstGeom>
          <a:solidFill>
            <a:srgbClr val="2A9D8F"/>
          </a:solidFill>
          <a:ln w="12700">
            <a:solidFill>
              <a:srgbClr val="2A9D8F"/>
            </a:solidFill>
            <a:prstDash val="solid"/>
          </a:ln>
        </p:spPr>
      </p:sp>
      <p:sp>
        <p:nvSpPr>
          <p:cNvPr id="19" name="Text 17"/>
          <p:cNvSpPr txBox="1"/>
          <p:nvPr/>
        </p:nvSpPr>
        <p:spPr>
          <a:xfrm>
            <a:off x="6381641" y="3246120"/>
            <a:ext cx="2377440" cy="237744"/>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  book(2 PM, Priya)</a:t>
            </a:r>
            <a:endParaRPr lang="en-US" sz="950" dirty="0"/>
          </a:p>
        </p:txBody>
      </p:sp>
      <p:sp>
        <p:nvSpPr>
          <p:cNvPr id="20" name="Text 18"/>
          <p:cNvSpPr txBox="1"/>
          <p:nvPr/>
        </p:nvSpPr>
        <p:spPr>
          <a:xfrm>
            <a:off x="1005840" y="3703320"/>
            <a:ext cx="457200" cy="228600"/>
          </a:xfrm>
          <a:prstGeom prst="rect">
            <a:avLst/>
          </a:prstGeom>
          <a:noFill/>
          <a:ln/>
        </p:spPr>
        <p:txBody>
          <a:bodyPr wrap="square" lIns="0" tIns="0" rIns="0" bIns="0" rtlCol="0" anchor="t"/>
          <a:lstStyle/>
          <a:p>
            <a:pPr algn="ctr" indent="0" marL="0">
              <a:buNone/>
            </a:pPr>
            <a:r>
              <a:rPr lang="en-US" sz="900" dirty="0">
                <a:solidFill>
                  <a:srgbClr val="5B6472"/>
                </a:solidFill>
                <a:latin typeface="Calibri" pitchFamily="34" charset="0"/>
                <a:ea typeface="Calibri" pitchFamily="34" charset="-122"/>
                <a:cs typeface="Calibri" pitchFamily="34" charset="-120"/>
              </a:rPr>
              <a:t>0 s</a:t>
            </a:r>
            <a:endParaRPr lang="en-US" sz="900" dirty="0"/>
          </a:p>
        </p:txBody>
      </p:sp>
      <p:sp>
        <p:nvSpPr>
          <p:cNvPr id="21" name="Text 19"/>
          <p:cNvSpPr txBox="1"/>
          <p:nvPr/>
        </p:nvSpPr>
        <p:spPr>
          <a:xfrm>
            <a:off x="2747554" y="3703320"/>
            <a:ext cx="457200" cy="228600"/>
          </a:xfrm>
          <a:prstGeom prst="rect">
            <a:avLst/>
          </a:prstGeom>
          <a:noFill/>
          <a:ln/>
        </p:spPr>
        <p:txBody>
          <a:bodyPr wrap="square" lIns="0" tIns="0" rIns="0" bIns="0" rtlCol="0" anchor="t"/>
          <a:lstStyle/>
          <a:p>
            <a:pPr algn="ctr" indent="0" marL="0">
              <a:buNone/>
            </a:pPr>
            <a:r>
              <a:rPr lang="en-US" sz="900" dirty="0">
                <a:solidFill>
                  <a:srgbClr val="5B6472"/>
                </a:solidFill>
                <a:latin typeface="Calibri" pitchFamily="34" charset="0"/>
                <a:ea typeface="Calibri" pitchFamily="34" charset="-122"/>
                <a:cs typeface="Calibri" pitchFamily="34" charset="-120"/>
              </a:rPr>
              <a:t>1 s</a:t>
            </a:r>
            <a:endParaRPr lang="en-US" sz="900" dirty="0"/>
          </a:p>
        </p:txBody>
      </p:sp>
      <p:sp>
        <p:nvSpPr>
          <p:cNvPr id="22" name="Text 20"/>
          <p:cNvSpPr txBox="1"/>
          <p:nvPr/>
        </p:nvSpPr>
        <p:spPr>
          <a:xfrm>
            <a:off x="4489269" y="3703320"/>
            <a:ext cx="457200" cy="228600"/>
          </a:xfrm>
          <a:prstGeom prst="rect">
            <a:avLst/>
          </a:prstGeom>
          <a:noFill/>
          <a:ln/>
        </p:spPr>
        <p:txBody>
          <a:bodyPr wrap="square" lIns="0" tIns="0" rIns="0" bIns="0" rtlCol="0" anchor="t"/>
          <a:lstStyle/>
          <a:p>
            <a:pPr algn="ctr" indent="0" marL="0">
              <a:buNone/>
            </a:pPr>
            <a:r>
              <a:rPr lang="en-US" sz="900" dirty="0">
                <a:solidFill>
                  <a:srgbClr val="5B6472"/>
                </a:solidFill>
                <a:latin typeface="Calibri" pitchFamily="34" charset="0"/>
                <a:ea typeface="Calibri" pitchFamily="34" charset="-122"/>
                <a:cs typeface="Calibri" pitchFamily="34" charset="-120"/>
              </a:rPr>
              <a:t>2 s</a:t>
            </a:r>
            <a:endParaRPr lang="en-US" sz="900" dirty="0"/>
          </a:p>
        </p:txBody>
      </p:sp>
      <p:sp>
        <p:nvSpPr>
          <p:cNvPr id="23" name="Text 21"/>
          <p:cNvSpPr txBox="1"/>
          <p:nvPr/>
        </p:nvSpPr>
        <p:spPr>
          <a:xfrm>
            <a:off x="6230983" y="3703320"/>
            <a:ext cx="457200" cy="228600"/>
          </a:xfrm>
          <a:prstGeom prst="rect">
            <a:avLst/>
          </a:prstGeom>
          <a:noFill/>
          <a:ln/>
        </p:spPr>
        <p:txBody>
          <a:bodyPr wrap="square" lIns="0" tIns="0" rIns="0" bIns="0" rtlCol="0" anchor="t"/>
          <a:lstStyle/>
          <a:p>
            <a:pPr algn="ctr" indent="0" marL="0">
              <a:buNone/>
            </a:pPr>
            <a:r>
              <a:rPr lang="en-US" sz="900" dirty="0">
                <a:solidFill>
                  <a:srgbClr val="5B6472"/>
                </a:solidFill>
                <a:latin typeface="Calibri" pitchFamily="34" charset="0"/>
                <a:ea typeface="Calibri" pitchFamily="34" charset="-122"/>
                <a:cs typeface="Calibri" pitchFamily="34" charset="-120"/>
              </a:rPr>
              <a:t>3 s</a:t>
            </a:r>
            <a:endParaRPr lang="en-US" sz="900" dirty="0"/>
          </a:p>
        </p:txBody>
      </p:sp>
      <p:sp>
        <p:nvSpPr>
          <p:cNvPr id="24" name="Text 22"/>
          <p:cNvSpPr txBox="1"/>
          <p:nvPr/>
        </p:nvSpPr>
        <p:spPr>
          <a:xfrm>
            <a:off x="7972697" y="3703320"/>
            <a:ext cx="457200" cy="228600"/>
          </a:xfrm>
          <a:prstGeom prst="rect">
            <a:avLst/>
          </a:prstGeom>
          <a:noFill/>
          <a:ln/>
        </p:spPr>
        <p:txBody>
          <a:bodyPr wrap="square" lIns="0" tIns="0" rIns="0" bIns="0" rtlCol="0" anchor="t"/>
          <a:lstStyle/>
          <a:p>
            <a:pPr algn="ctr" indent="0" marL="0">
              <a:buNone/>
            </a:pPr>
            <a:r>
              <a:rPr lang="en-US" sz="900" dirty="0">
                <a:solidFill>
                  <a:srgbClr val="5B6472"/>
                </a:solidFill>
                <a:latin typeface="Calibri" pitchFamily="34" charset="0"/>
                <a:ea typeface="Calibri" pitchFamily="34" charset="-122"/>
                <a:cs typeface="Calibri" pitchFamily="34" charset="-120"/>
              </a:rPr>
              <a:t>4 s</a:t>
            </a:r>
            <a:endParaRPr lang="en-US" sz="900" dirty="0"/>
          </a:p>
        </p:txBody>
      </p:sp>
      <p:sp>
        <p:nvSpPr>
          <p:cNvPr id="25" name="Text 23"/>
          <p:cNvSpPr txBox="1"/>
          <p:nvPr/>
        </p:nvSpPr>
        <p:spPr>
          <a:xfrm>
            <a:off x="457200" y="4023360"/>
            <a:ext cx="8229600" cy="822960"/>
          </a:xfrm>
          <a:prstGeom prst="rect">
            <a:avLst/>
          </a:prstGeom>
          <a:noFill/>
          <a:ln/>
        </p:spPr>
        <p:txBody>
          <a:bodyPr wrap="square" lIns="0" tIns="0" rIns="0" bIns="0" rtlCol="0" anchor="t"/>
          <a:lstStyle/>
          <a:p>
            <a:pPr algn="l" indent="0" marL="0">
              <a:buNone/>
            </a:pPr>
            <a:r>
              <a:rPr lang="en-US" sz="1250" dirty="0">
                <a:solidFill>
                  <a:srgbClr val="1F2937"/>
                </a:solidFill>
                <a:latin typeface="Calibri" pitchFamily="34" charset="0"/>
                <a:ea typeface="Calibri" pitchFamily="34" charset="-122"/>
                <a:cs typeface="Calibri" pitchFamily="34" charset="-120"/>
              </a:rPr>
              <a:t>Every computation carries the epoch it was conceived under. The second correction lands inside the 250 ms hold on irreversible work, so the held booking is dropped before it is ever sent. One booking goes out - 2 PM, for Priya - and "not Alice" never enters the state.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t"/>
          <a:lstStyle/>
          <a:p>
            <a:pPr indent="0" marL="0">
              <a:buNone/>
            </a:pPr>
            <a:r>
              <a:rPr lang="en-US" sz="2800" b="1" dirty="0">
                <a:solidFill>
                  <a:srgbClr val="14213D"/>
                </a:solidFill>
                <a:latin typeface="Cambria" pitchFamily="34" charset="0"/>
                <a:ea typeface="Cambria" pitchFamily="34" charset="-122"/>
                <a:cs typeface="Cambria" pitchFamily="34" charset="-120"/>
              </a:rPr>
              <a:t>Tools it has never seen, handled honestly</a:t>
            </a:r>
            <a:endParaRPr lang="en-US" sz="2800" dirty="0"/>
          </a:p>
        </p:txBody>
      </p:sp>
      <p:sp>
        <p:nvSpPr>
          <p:cNvPr id="3" name="Shape 1"/>
          <p:cNvSpPr/>
          <p:nvPr/>
        </p:nvSpPr>
        <p:spPr>
          <a:xfrm>
            <a:off x="457200" y="1188720"/>
            <a:ext cx="4114800" cy="3291840"/>
          </a:xfrm>
          <a:prstGeom prst="roundRect">
            <a:avLst>
              <a:gd name="adj" fmla="val 2222"/>
            </a:avLst>
          </a:prstGeom>
          <a:solidFill>
            <a:srgbClr val="F1F4F8"/>
          </a:solidFill>
          <a:ln w="12700">
            <a:solidFill>
              <a:srgbClr val="F1F4F8"/>
            </a:solidFill>
            <a:prstDash val="solid"/>
          </a:ln>
        </p:spPr>
      </p:sp>
      <p:sp>
        <p:nvSpPr>
          <p:cNvPr id="4" name="Text 2"/>
          <p:cNvSpPr txBox="1"/>
          <p:nvPr/>
        </p:nvSpPr>
        <p:spPr>
          <a:xfrm>
            <a:off x="640080" y="1298448"/>
            <a:ext cx="3749040" cy="274320"/>
          </a:xfrm>
          <a:prstGeom prst="rect">
            <a:avLst/>
          </a:prstGeom>
          <a:noFill/>
          <a:ln/>
        </p:spPr>
        <p:txBody>
          <a:bodyPr wrap="square" lIns="0" tIns="0" rIns="0" bIns="0" rtlCol="0" anchor="t"/>
          <a:lstStyle/>
          <a:p>
            <a:pPr algn="l" indent="0" marL="0">
              <a:buNone/>
            </a:pPr>
            <a:r>
              <a:rPr lang="en-US" sz="1200" b="1" dirty="0">
                <a:solidFill>
                  <a:srgbClr val="5B6472"/>
                </a:solidFill>
                <a:latin typeface="Calibri" pitchFamily="34" charset="0"/>
                <a:ea typeface="Calibri" pitchFamily="34" charset="-122"/>
                <a:cs typeface="Calibri" pitchFamily="34" charset="-120"/>
              </a:rPr>
              <a:t>A schema DUET met a moment ago</a:t>
            </a:r>
            <a:endParaRPr lang="en-US" sz="1200" dirty="0"/>
          </a:p>
        </p:txBody>
      </p:sp>
      <p:sp>
        <p:nvSpPr>
          <p:cNvPr id="5" name="Text 3"/>
          <p:cNvSpPr txBox="1"/>
          <p:nvPr/>
        </p:nvSpPr>
        <p:spPr>
          <a:xfrm>
            <a:off x="640080" y="1645920"/>
            <a:ext cx="3749040" cy="822960"/>
          </a:xfrm>
          <a:prstGeom prst="rect">
            <a:avLst/>
          </a:prstGeom>
          <a:noFill/>
          <a:ln/>
        </p:spPr>
        <p:txBody>
          <a:bodyPr wrap="square" lIns="0" tIns="0" rIns="0" bIns="0" rtlCol="0" anchor="ctr"/>
          <a:lstStyle/>
          <a:p>
            <a:pPr indent="0" marL="0">
              <a:buNone/>
            </a:pPr>
            <a:r>
              <a:rPr lang="en-US" sz="1100" dirty="0">
                <a:solidFill>
                  <a:srgbClr val="14213D"/>
                </a:solidFill>
                <a:latin typeface="Courier New" pitchFamily="34" charset="0"/>
                <a:ea typeface="Courier New" pitchFamily="34" charset="-122"/>
                <a:cs typeface="Courier New" pitchFamily="34" charset="-120"/>
              </a:rPr>
              <a:t>reserve_table  (state_modifying)</a:t>
            </a:r>
            <a:endParaRPr lang="en-US" sz="1100" dirty="0"/>
          </a:p>
          <a:p>
            <a:pPr indent="0" marL="0">
              <a:buNone/>
            </a:pPr>
            <a:r>
              <a:rPr lang="en-US" sz="1100" dirty="0">
                <a:solidFill>
                  <a:srgbClr val="14213D"/>
                </a:solidFill>
                <a:latin typeface="Courier New" pitchFamily="34" charset="0"/>
                <a:ea typeface="Courier New" pitchFamily="34" charset="-122"/>
                <a:cs typeface="Courier New" pitchFamily="34" charset="-120"/>
              </a:rPr>
              <a:t>  restaurant : string, required</a:t>
            </a:r>
            <a:endParaRPr lang="en-US" sz="1100" dirty="0"/>
          </a:p>
          <a:p>
            <a:pPr indent="0" marL="0">
              <a:buNone/>
            </a:pPr>
            <a:r>
              <a:rPr lang="en-US" sz="1100" dirty="0">
                <a:solidFill>
                  <a:srgbClr val="14213D"/>
                </a:solidFill>
                <a:latin typeface="Courier New" pitchFamily="34" charset="0"/>
                <a:ea typeface="Courier New" pitchFamily="34" charset="-122"/>
                <a:cs typeface="Courier New" pitchFamily="34" charset="-120"/>
              </a:rPr>
              <a:t>  party_size : number, required</a:t>
            </a:r>
            <a:endParaRPr lang="en-US" sz="1100" dirty="0"/>
          </a:p>
        </p:txBody>
      </p:sp>
      <p:sp>
        <p:nvSpPr>
          <p:cNvPr id="6" name="Text 4"/>
          <p:cNvSpPr txBox="1"/>
          <p:nvPr/>
        </p:nvSpPr>
        <p:spPr>
          <a:xfrm>
            <a:off x="640080" y="2560320"/>
            <a:ext cx="3749040" cy="502920"/>
          </a:xfrm>
          <a:prstGeom prst="rect">
            <a:avLst/>
          </a:prstGeom>
          <a:noFill/>
          <a:ln/>
        </p:spPr>
        <p:txBody>
          <a:bodyPr wrap="square" lIns="0" tIns="0" rIns="0" bIns="0" rtlCol="0" anchor="t"/>
          <a:lstStyle/>
          <a:p>
            <a:pPr algn="l" indent="0" marL="0">
              <a:buNone/>
            </a:pPr>
            <a:r>
              <a:rPr lang="en-US" sz="1200" i="1" dirty="0">
                <a:solidFill>
                  <a:srgbClr val="1F2937"/>
                </a:solidFill>
                <a:latin typeface="Calibri" pitchFamily="34" charset="0"/>
                <a:ea typeface="Calibri" pitchFamily="34" charset="-122"/>
                <a:cs typeface="Calibri" pitchFamily="34" charset="-120"/>
              </a:rPr>
              <a:t>"Could you get us a table at The Olive Room for six, around 7 PM?"</a:t>
            </a:r>
            <a:endParaRPr lang="en-US" sz="1200" dirty="0"/>
          </a:p>
        </p:txBody>
      </p:sp>
      <p:sp>
        <p:nvSpPr>
          <p:cNvPr id="7" name="Text 5"/>
          <p:cNvSpPr txBox="1"/>
          <p:nvPr/>
        </p:nvSpPr>
        <p:spPr>
          <a:xfrm>
            <a:off x="640080" y="3108960"/>
            <a:ext cx="3749040" cy="502920"/>
          </a:xfrm>
          <a:prstGeom prst="rect">
            <a:avLst/>
          </a:prstGeom>
          <a:noFill/>
          <a:ln/>
        </p:spPr>
        <p:txBody>
          <a:bodyPr wrap="square" lIns="0" tIns="0" rIns="0" bIns="0" rtlCol="0" anchor="ctr"/>
          <a:lstStyle/>
          <a:p>
            <a:pPr indent="0" marL="0">
              <a:buNone/>
            </a:pPr>
            <a:r>
              <a:rPr lang="en-US" sz="1100" b="1" dirty="0">
                <a:solidFill>
                  <a:srgbClr val="2A9D8F"/>
                </a:solidFill>
                <a:latin typeface="Courier New" pitchFamily="34" charset="0"/>
                <a:ea typeface="Courier New" pitchFamily="34" charset="-122"/>
                <a:cs typeface="Courier New" pitchFamily="34" charset="-120"/>
              </a:rPr>
              <a:t>reserve_table(restaurant="The Olive Room",</a:t>
            </a:r>
            <a:endParaRPr lang="en-US" sz="1100" dirty="0"/>
          </a:p>
          <a:p>
            <a:pPr indent="0" marL="0">
              <a:buNone/>
            </a:pPr>
            <a:r>
              <a:rPr lang="en-US" sz="1100" b="1" dirty="0">
                <a:solidFill>
                  <a:srgbClr val="2A9D8F"/>
                </a:solidFill>
                <a:latin typeface="Courier New" pitchFamily="34" charset="0"/>
                <a:ea typeface="Courier New" pitchFamily="34" charset="-122"/>
                <a:cs typeface="Courier New" pitchFamily="34" charset="-120"/>
              </a:rPr>
              <a:t>              party_size=6)</a:t>
            </a:r>
            <a:endParaRPr lang="en-US" sz="1100" dirty="0"/>
          </a:p>
        </p:txBody>
      </p:sp>
      <p:sp>
        <p:nvSpPr>
          <p:cNvPr id="8" name="Text 6"/>
          <p:cNvSpPr txBox="1"/>
          <p:nvPr/>
        </p:nvSpPr>
        <p:spPr>
          <a:xfrm>
            <a:off x="640080" y="3749040"/>
            <a:ext cx="3749040" cy="548640"/>
          </a:xfrm>
          <a:prstGeom prst="rect">
            <a:avLst/>
          </a:prstGeom>
          <a:noFill/>
          <a:ln/>
        </p:spPr>
        <p:txBody>
          <a:bodyPr wrap="square" lIns="0" tIns="0" rIns="0" bIns="0" rtlCol="0" anchor="t"/>
          <a:lstStyle/>
          <a:p>
            <a:pPr algn="l" indent="0" marL="0">
              <a:buNone/>
            </a:pPr>
            <a:r>
              <a:rPr lang="en-US" sz="1200" i="1" dirty="0">
                <a:solidFill>
                  <a:srgbClr val="14213D"/>
                </a:solidFill>
                <a:latin typeface="Calibri" pitchFamily="34" charset="0"/>
                <a:ea typeface="Calibri" pitchFamily="34" charset="-122"/>
                <a:cs typeface="Calibri" pitchFamily="34" charset="-120"/>
              </a:rPr>
              <a:t>"All set - that went through, reservation reference RS-0042."</a:t>
            </a:r>
            <a:endParaRPr lang="en-US" sz="1200" dirty="0"/>
          </a:p>
        </p:txBody>
      </p:sp>
      <p:sp>
        <p:nvSpPr>
          <p:cNvPr id="9" name="Shape 7"/>
          <p:cNvSpPr/>
          <p:nvPr/>
        </p:nvSpPr>
        <p:spPr>
          <a:xfrm>
            <a:off x="4892040" y="1252728"/>
            <a:ext cx="347472" cy="347472"/>
          </a:xfrm>
          <a:prstGeom prst="ellipse">
            <a:avLst/>
          </a:prstGeom>
          <a:solidFill>
            <a:srgbClr val="14213D"/>
          </a:solidFill>
          <a:ln w="12700">
            <a:solidFill>
              <a:srgbClr val="14213D"/>
            </a:solidFill>
            <a:prstDash val="solid"/>
          </a:ln>
        </p:spPr>
      </p:sp>
      <p:sp>
        <p:nvSpPr>
          <p:cNvPr id="10" name="Text 8"/>
          <p:cNvSpPr txBox="1"/>
          <p:nvPr/>
        </p:nvSpPr>
        <p:spPr>
          <a:xfrm>
            <a:off x="4892040" y="125272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5394960" y="1234440"/>
            <a:ext cx="3291840" cy="320040"/>
          </a:xfrm>
          <a:prstGeom prst="rect">
            <a:avLst/>
          </a:prstGeom>
          <a:noFill/>
          <a:ln/>
        </p:spPr>
        <p:txBody>
          <a:bodyPr wrap="square" lIns="0" tIns="0" rIns="0" bIns="0" rtlCol="0" anchor="t"/>
          <a:lstStyle/>
          <a:p>
            <a:pPr algn="l" indent="0" marL="0">
              <a:buNone/>
            </a:pPr>
            <a:r>
              <a:rPr lang="en-US" sz="1400" b="1" dirty="0">
                <a:solidFill>
                  <a:srgbClr val="14213D"/>
                </a:solidFill>
                <a:latin typeface="Calibri" pitchFamily="34" charset="0"/>
                <a:ea typeface="Calibri" pitchFamily="34" charset="-122"/>
                <a:cs typeface="Calibri" pitchFamily="34" charset="-120"/>
              </a:rPr>
              <a:t>No tool names in the engine</a:t>
            </a:r>
            <a:endParaRPr lang="en-US" sz="1400" dirty="0"/>
          </a:p>
        </p:txBody>
      </p:sp>
      <p:sp>
        <p:nvSpPr>
          <p:cNvPr id="12" name="Text 10"/>
          <p:cNvSpPr txBox="1"/>
          <p:nvPr/>
        </p:nvSpPr>
        <p:spPr>
          <a:xfrm>
            <a:off x="5394960" y="1563624"/>
            <a:ext cx="3291840" cy="731520"/>
          </a:xfrm>
          <a:prstGeom prst="rect">
            <a:avLst/>
          </a:prstGeom>
          <a:noFill/>
          <a:ln/>
        </p:spPr>
        <p:txBody>
          <a:bodyPr wrap="square" lIns="0" tIns="0" rIns="0" bIns="0" rtlCol="0" anchor="t"/>
          <a:lstStyle/>
          <a:p>
            <a:pPr algn="l" indent="0" marL="0">
              <a:buNone/>
            </a:pPr>
            <a:r>
              <a:rPr lang="en-US" sz="1150" dirty="0">
                <a:solidFill>
                  <a:srgbClr val="1F2937"/>
                </a:solidFill>
                <a:latin typeface="Calibri" pitchFamily="34" charset="0"/>
                <a:ea typeface="Calibri" pitchFamily="34" charset="-122"/>
                <a:cs typeface="Calibri" pitchFamily="34" charset="-120"/>
              </a:rPr>
              <a:t>Chosen and bound from the schema alone; chaining falls out of which arguments can be filled.</a:t>
            </a:r>
            <a:endParaRPr lang="en-US" sz="1150" dirty="0"/>
          </a:p>
        </p:txBody>
      </p:sp>
      <p:sp>
        <p:nvSpPr>
          <p:cNvPr id="13" name="Shape 11"/>
          <p:cNvSpPr/>
          <p:nvPr/>
        </p:nvSpPr>
        <p:spPr>
          <a:xfrm>
            <a:off x="4892040" y="2350008"/>
            <a:ext cx="347472" cy="347472"/>
          </a:xfrm>
          <a:prstGeom prst="ellipse">
            <a:avLst/>
          </a:prstGeom>
          <a:solidFill>
            <a:srgbClr val="E9A23B"/>
          </a:solidFill>
          <a:ln w="12700">
            <a:solidFill>
              <a:srgbClr val="E9A23B"/>
            </a:solidFill>
            <a:prstDash val="solid"/>
          </a:ln>
        </p:spPr>
      </p:sp>
      <p:sp>
        <p:nvSpPr>
          <p:cNvPr id="14" name="Text 12"/>
          <p:cNvSpPr txBox="1"/>
          <p:nvPr/>
        </p:nvSpPr>
        <p:spPr>
          <a:xfrm>
            <a:off x="4892040" y="235000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5394960" y="2331720"/>
            <a:ext cx="3291840" cy="320040"/>
          </a:xfrm>
          <a:prstGeom prst="rect">
            <a:avLst/>
          </a:prstGeom>
          <a:noFill/>
          <a:ln/>
        </p:spPr>
        <p:txBody>
          <a:bodyPr wrap="square" lIns="0" tIns="0" rIns="0" bIns="0" rtlCol="0" anchor="t"/>
          <a:lstStyle/>
          <a:p>
            <a:pPr algn="l" indent="0" marL="0">
              <a:buNone/>
            </a:pPr>
            <a:r>
              <a:rPr lang="en-US" sz="1400" b="1" dirty="0">
                <a:solidFill>
                  <a:srgbClr val="14213D"/>
                </a:solidFill>
                <a:latin typeface="Calibri" pitchFamily="34" charset="0"/>
                <a:ea typeface="Calibri" pitchFamily="34" charset="-122"/>
                <a:cs typeface="Calibri" pitchFamily="34" charset="-120"/>
              </a:rPr>
              <a:t>A timeout is not a failure</a:t>
            </a:r>
            <a:endParaRPr lang="en-US" sz="1400" dirty="0"/>
          </a:p>
        </p:txBody>
      </p:sp>
      <p:sp>
        <p:nvSpPr>
          <p:cNvPr id="16" name="Text 14"/>
          <p:cNvSpPr txBox="1"/>
          <p:nvPr/>
        </p:nvSpPr>
        <p:spPr>
          <a:xfrm>
            <a:off x="5394960" y="2660904"/>
            <a:ext cx="3291840" cy="731520"/>
          </a:xfrm>
          <a:prstGeom prst="rect">
            <a:avLst/>
          </a:prstGeom>
          <a:noFill/>
          <a:ln/>
        </p:spPr>
        <p:txBody>
          <a:bodyPr wrap="square" lIns="0" tIns="0" rIns="0" bIns="0" rtlCol="0" anchor="t"/>
          <a:lstStyle/>
          <a:p>
            <a:pPr algn="l" indent="0" marL="0">
              <a:buNone/>
            </a:pPr>
            <a:r>
              <a:rPr lang="en-US" sz="1150" dirty="0">
                <a:solidFill>
                  <a:srgbClr val="1F2937"/>
                </a:solidFill>
                <a:latin typeface="Calibri" pitchFamily="34" charset="0"/>
                <a:ea typeface="Calibri" pitchFamily="34" charset="-122"/>
                <a:cs typeface="Calibri" pitchFamily="34" charset="-120"/>
              </a:rPr>
              <a:t>"...timed out, so I cannot tell whether it went through. I will not send it again without checking with you."</a:t>
            </a:r>
            <a:endParaRPr lang="en-US" sz="1150" dirty="0"/>
          </a:p>
        </p:txBody>
      </p:sp>
      <p:sp>
        <p:nvSpPr>
          <p:cNvPr id="17" name="Shape 15"/>
          <p:cNvSpPr/>
          <p:nvPr/>
        </p:nvSpPr>
        <p:spPr>
          <a:xfrm>
            <a:off x="4892040" y="3447288"/>
            <a:ext cx="347472" cy="347472"/>
          </a:xfrm>
          <a:prstGeom prst="ellipse">
            <a:avLst/>
          </a:prstGeom>
          <a:solidFill>
            <a:srgbClr val="2A9D8F"/>
          </a:solidFill>
          <a:ln w="12700">
            <a:solidFill>
              <a:srgbClr val="2A9D8F"/>
            </a:solidFill>
            <a:prstDash val="solid"/>
          </a:ln>
        </p:spPr>
      </p:sp>
      <p:sp>
        <p:nvSpPr>
          <p:cNvPr id="18" name="Text 16"/>
          <p:cNvSpPr txBox="1"/>
          <p:nvPr/>
        </p:nvSpPr>
        <p:spPr>
          <a:xfrm>
            <a:off x="4892040" y="344728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5394960" y="3429000"/>
            <a:ext cx="3291840" cy="320040"/>
          </a:xfrm>
          <a:prstGeom prst="rect">
            <a:avLst/>
          </a:prstGeom>
          <a:noFill/>
          <a:ln/>
        </p:spPr>
        <p:txBody>
          <a:bodyPr wrap="square" lIns="0" tIns="0" rIns="0" bIns="0" rtlCol="0" anchor="t"/>
          <a:lstStyle/>
          <a:p>
            <a:pPr algn="l" indent="0" marL="0">
              <a:buNone/>
            </a:pPr>
            <a:r>
              <a:rPr lang="en-US" sz="1400" b="1" dirty="0">
                <a:solidFill>
                  <a:srgbClr val="14213D"/>
                </a:solidFill>
                <a:latin typeface="Calibri" pitchFamily="34" charset="0"/>
                <a:ea typeface="Calibri" pitchFamily="34" charset="-122"/>
                <a:cs typeface="Calibri" pitchFamily="34" charset="-120"/>
              </a:rPr>
              <a:t>Promises, never premature claims</a:t>
            </a:r>
            <a:endParaRPr lang="en-US" sz="1400" dirty="0"/>
          </a:p>
        </p:txBody>
      </p:sp>
      <p:sp>
        <p:nvSpPr>
          <p:cNvPr id="20" name="Text 18"/>
          <p:cNvSpPr txBox="1"/>
          <p:nvPr/>
        </p:nvSpPr>
        <p:spPr>
          <a:xfrm>
            <a:off x="5394960" y="3758184"/>
            <a:ext cx="3291840" cy="731520"/>
          </a:xfrm>
          <a:prstGeom prst="rect">
            <a:avLst/>
          </a:prstGeom>
          <a:noFill/>
          <a:ln/>
        </p:spPr>
        <p:txBody>
          <a:bodyPr wrap="square" lIns="0" tIns="0" rIns="0" bIns="0" rtlCol="0" anchor="t"/>
          <a:lstStyle/>
          <a:p>
            <a:pPr algn="l" indent="0" marL="0">
              <a:buNone/>
            </a:pPr>
            <a:r>
              <a:rPr lang="en-US" sz="1150" dirty="0">
                <a:solidFill>
                  <a:srgbClr val="1F2937"/>
                </a:solidFill>
                <a:latin typeface="Calibri" pitchFamily="34" charset="0"/>
                <a:ea typeface="Calibri" pitchFamily="34" charset="-122"/>
                <a:cs typeface="Calibri" pitchFamily="34" charset="-120"/>
              </a:rPr>
              <a:t>"Booking flight FL-DEN-8AM now" before the tool reports; "booked" only after.</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t"/>
          <a:lstStyle/>
          <a:p>
            <a:pPr indent="0" marL="0">
              <a:buNone/>
            </a:pPr>
            <a:r>
              <a:rPr lang="en-US" sz="2800" b="1" dirty="0">
                <a:solidFill>
                  <a:srgbClr val="14213D"/>
                </a:solidFill>
                <a:latin typeface="Cambria" pitchFamily="34" charset="0"/>
                <a:ea typeface="Cambria" pitchFamily="34" charset="-122"/>
                <a:cs typeface="Cambria" pitchFamily="34" charset="-120"/>
              </a:rPr>
              <a:t>Hearing and seeing: measured, not assumed</a:t>
            </a:r>
            <a:endParaRPr lang="en-US" sz="2800" dirty="0"/>
          </a:p>
        </p:txBody>
      </p:sp>
      <p:sp>
        <p:nvSpPr>
          <p:cNvPr id="3" name="Text 1"/>
          <p:cNvSpPr txBox="1"/>
          <p:nvPr/>
        </p:nvSpPr>
        <p:spPr>
          <a:xfrm>
            <a:off x="457200" y="1097280"/>
            <a:ext cx="4023360" cy="320040"/>
          </a:xfrm>
          <a:prstGeom prst="rect">
            <a:avLst/>
          </a:prstGeom>
          <a:noFill/>
          <a:ln/>
        </p:spPr>
        <p:txBody>
          <a:bodyPr wrap="square" lIns="0" tIns="0" rIns="0" bIns="0" rtlCol="0" anchor="t"/>
          <a:lstStyle/>
          <a:p>
            <a:pPr algn="l" indent="0" marL="0">
              <a:buNone/>
            </a:pPr>
            <a:r>
              <a:rPr lang="en-US" sz="1500" b="1" dirty="0">
                <a:solidFill>
                  <a:srgbClr val="14213D"/>
                </a:solidFill>
                <a:latin typeface="Calibri" pitchFamily="34" charset="0"/>
                <a:ea typeface="Calibri" pitchFamily="34" charset="-122"/>
                <a:cs typeface="Calibri" pitchFamily="34" charset="-120"/>
              </a:rPr>
              <a:t>Speech: confidence per word</a:t>
            </a:r>
            <a:endParaRPr lang="en-US" sz="1500" dirty="0"/>
          </a:p>
        </p:txBody>
      </p:sp>
      <p:graphicFrame>
        <p:nvGraphicFramePr>
          <p:cNvPr id="4" name="Chart 0" descr=""/>
          <p:cNvGraphicFramePr/>
          <p:nvPr/>
        </p:nvGraphicFramePr>
        <p:xfrm>
          <a:off x="365760" y="1417320"/>
          <a:ext cx="4206240" cy="20116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57200" y="3520440"/>
            <a:ext cx="4023360" cy="91440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"Austin" at 0.47 is below the 0.65 bar, so DUET asks by name: "Sorry, did you say Austin?" - then searches Boston when the user says so.</a:t>
            </a:r>
            <a:endParaRPr lang="en-US" sz="1200" dirty="0"/>
          </a:p>
        </p:txBody>
      </p:sp>
      <p:sp>
        <p:nvSpPr>
          <p:cNvPr id="6" name="Text 3"/>
          <p:cNvSpPr txBox="1"/>
          <p:nvPr/>
        </p:nvSpPr>
        <p:spPr>
          <a:xfrm>
            <a:off x="4846320" y="1097280"/>
            <a:ext cx="3931920" cy="320040"/>
          </a:xfrm>
          <a:prstGeom prst="rect">
            <a:avLst/>
          </a:prstGeom>
          <a:noFill/>
          <a:ln/>
        </p:spPr>
        <p:txBody>
          <a:bodyPr wrap="square" lIns="0" tIns="0" rIns="0" bIns="0" rtlCol="0" anchor="t"/>
          <a:lstStyle/>
          <a:p>
            <a:pPr algn="l" indent="0" marL="0">
              <a:buNone/>
            </a:pPr>
            <a:r>
              <a:rPr lang="en-US" sz="1500" b="1" dirty="0">
                <a:solidFill>
                  <a:srgbClr val="14213D"/>
                </a:solidFill>
                <a:latin typeface="Calibri" pitchFamily="34" charset="0"/>
                <a:ea typeface="Calibri" pitchFamily="34" charset="-122"/>
                <a:cs typeface="Calibri" pitchFamily="34" charset="-120"/>
              </a:rPr>
              <a:t>Vision: a model we tested and rejected</a:t>
            </a:r>
            <a:endParaRPr lang="en-US" sz="1500" dirty="0"/>
          </a:p>
        </p:txBody>
      </p:sp>
      <p:sp>
        <p:nvSpPr>
          <p:cNvPr id="7" name="Shape 4"/>
          <p:cNvSpPr/>
          <p:nvPr/>
        </p:nvSpPr>
        <p:spPr>
          <a:xfrm>
            <a:off x="4846320" y="1508760"/>
            <a:ext cx="1783080" cy="731520"/>
          </a:xfrm>
          <a:prstGeom prst="roundRect">
            <a:avLst>
              <a:gd name="adj" fmla="val 10000"/>
            </a:avLst>
          </a:prstGeom>
          <a:solidFill>
            <a:srgbClr val="FBE7E3"/>
          </a:solidFill>
          <a:ln w="12700">
            <a:solidFill>
              <a:srgbClr val="FBE7E3"/>
            </a:solidFill>
            <a:prstDash val="solid"/>
          </a:ln>
        </p:spPr>
      </p:sp>
      <p:sp>
        <p:nvSpPr>
          <p:cNvPr id="8" name="Text 5"/>
          <p:cNvSpPr txBox="1"/>
          <p:nvPr/>
        </p:nvSpPr>
        <p:spPr>
          <a:xfrm>
            <a:off x="4956048" y="1581912"/>
            <a:ext cx="1554480" cy="274320"/>
          </a:xfrm>
          <a:prstGeom prst="rect">
            <a:avLst/>
          </a:prstGeom>
          <a:noFill/>
          <a:ln/>
        </p:spPr>
        <p:txBody>
          <a:bodyPr wrap="square" lIns="0" tIns="0" rIns="0" bIns="0" rtlCol="0" anchor="t"/>
          <a:lstStyle/>
          <a:p>
            <a:pPr algn="l" indent="0" marL="0">
              <a:buNone/>
            </a:pPr>
            <a:r>
              <a:rPr lang="en-US" sz="1100" dirty="0">
                <a:solidFill>
                  <a:srgbClr val="5B6472"/>
                </a:solidFill>
                <a:latin typeface="Calibri" pitchFamily="34" charset="0"/>
                <a:ea typeface="Calibri" pitchFamily="34" charset="-122"/>
                <a:cs typeface="Calibri" pitchFamily="34" charset="-120"/>
              </a:rPr>
              <a:t>full frame</a:t>
            </a:r>
            <a:endParaRPr lang="en-US" sz="1100" dirty="0"/>
          </a:p>
        </p:txBody>
      </p:sp>
      <p:sp>
        <p:nvSpPr>
          <p:cNvPr id="9" name="Text 6"/>
          <p:cNvSpPr txBox="1"/>
          <p:nvPr/>
        </p:nvSpPr>
        <p:spPr>
          <a:xfrm>
            <a:off x="4956048" y="1856232"/>
            <a:ext cx="1554480" cy="320040"/>
          </a:xfrm>
          <a:prstGeom prst="rect">
            <a:avLst/>
          </a:prstGeom>
          <a:noFill/>
          <a:ln/>
        </p:spPr>
        <p:txBody>
          <a:bodyPr wrap="square" lIns="0" tIns="0" rIns="0" bIns="0" rtlCol="0" anchor="t"/>
          <a:lstStyle/>
          <a:p>
            <a:pPr algn="l" indent="0" marL="0">
              <a:buNone/>
            </a:pPr>
            <a:r>
              <a:rPr lang="en-US" sz="1300" b="1" dirty="0">
                <a:solidFill>
                  <a:srgbClr val="D8472C"/>
                </a:solidFill>
                <a:latin typeface="Calibri" pitchFamily="34" charset="0"/>
                <a:ea typeface="Calibri" pitchFamily="34" charset="-122"/>
                <a:cs typeface="Calibri" pitchFamily="34" charset="-120"/>
              </a:rPr>
              <a:t>"USB-C port"</a:t>
            </a:r>
            <a:endParaRPr lang="en-US" sz="1300" dirty="0"/>
          </a:p>
        </p:txBody>
      </p:sp>
      <p:sp>
        <p:nvSpPr>
          <p:cNvPr id="10" name="Shape 7"/>
          <p:cNvSpPr/>
          <p:nvPr/>
        </p:nvSpPr>
        <p:spPr>
          <a:xfrm>
            <a:off x="6766560" y="1508760"/>
            <a:ext cx="1783080" cy="731520"/>
          </a:xfrm>
          <a:prstGeom prst="roundRect">
            <a:avLst>
              <a:gd name="adj" fmla="val 10000"/>
            </a:avLst>
          </a:prstGeom>
          <a:solidFill>
            <a:srgbClr val="E3F2EF"/>
          </a:solidFill>
          <a:ln w="12700">
            <a:solidFill>
              <a:srgbClr val="E3F2EF"/>
            </a:solidFill>
            <a:prstDash val="solid"/>
          </a:ln>
        </p:spPr>
      </p:sp>
      <p:sp>
        <p:nvSpPr>
          <p:cNvPr id="11" name="Text 8"/>
          <p:cNvSpPr txBox="1"/>
          <p:nvPr/>
        </p:nvSpPr>
        <p:spPr>
          <a:xfrm>
            <a:off x="6876288" y="1581912"/>
            <a:ext cx="1554480" cy="274320"/>
          </a:xfrm>
          <a:prstGeom prst="rect">
            <a:avLst/>
          </a:prstGeom>
          <a:noFill/>
          <a:ln/>
        </p:spPr>
        <p:txBody>
          <a:bodyPr wrap="square" lIns="0" tIns="0" rIns="0" bIns="0" rtlCol="0" anchor="t"/>
          <a:lstStyle/>
          <a:p>
            <a:pPr algn="l" indent="0" marL="0">
              <a:buNone/>
            </a:pPr>
            <a:r>
              <a:rPr lang="en-US" sz="1100" dirty="0">
                <a:solidFill>
                  <a:srgbClr val="5B6472"/>
                </a:solidFill>
                <a:latin typeface="Calibri" pitchFamily="34" charset="0"/>
                <a:ea typeface="Calibri" pitchFamily="34" charset="-122"/>
                <a:cs typeface="Calibri" pitchFamily="34" charset="-120"/>
              </a:rPr>
              <a:t>centre crop</a:t>
            </a:r>
            <a:endParaRPr lang="en-US" sz="1100" dirty="0"/>
          </a:p>
        </p:txBody>
      </p:sp>
      <p:sp>
        <p:nvSpPr>
          <p:cNvPr id="12" name="Text 9"/>
          <p:cNvSpPr txBox="1"/>
          <p:nvPr/>
        </p:nvSpPr>
        <p:spPr>
          <a:xfrm>
            <a:off x="6876288" y="1856232"/>
            <a:ext cx="1554480" cy="320040"/>
          </a:xfrm>
          <a:prstGeom prst="rect">
            <a:avLst/>
          </a:prstGeom>
          <a:noFill/>
          <a:ln/>
        </p:spPr>
        <p:txBody>
          <a:bodyPr wrap="square" lIns="0" tIns="0" rIns="0" bIns="0" rtlCol="0" anchor="t"/>
          <a:lstStyle/>
          <a:p>
            <a:pPr algn="l" indent="0" marL="0">
              <a:buNone/>
            </a:pPr>
            <a:r>
              <a:rPr lang="en-US" sz="1300" b="1" dirty="0">
                <a:solidFill>
                  <a:srgbClr val="2A9D8F"/>
                </a:solidFill>
                <a:latin typeface="Calibri" pitchFamily="34" charset="0"/>
                <a:ea typeface="Calibri" pitchFamily="34" charset="-122"/>
                <a:cs typeface="Calibri" pitchFamily="34" charset="-120"/>
              </a:rPr>
              <a:t>"HDMI port"</a:t>
            </a:r>
            <a:endParaRPr lang="en-US" sz="1300" dirty="0"/>
          </a:p>
        </p:txBody>
      </p:sp>
      <p:sp>
        <p:nvSpPr>
          <p:cNvPr id="13" name="Shape 10"/>
          <p:cNvSpPr/>
          <p:nvPr/>
        </p:nvSpPr>
        <p:spPr>
          <a:xfrm>
            <a:off x="4846320" y="2377440"/>
            <a:ext cx="1783080" cy="731520"/>
          </a:xfrm>
          <a:prstGeom prst="roundRect">
            <a:avLst>
              <a:gd name="adj" fmla="val 10000"/>
            </a:avLst>
          </a:prstGeom>
          <a:solidFill>
            <a:srgbClr val="FBE7E3"/>
          </a:solidFill>
          <a:ln w="12700">
            <a:solidFill>
              <a:srgbClr val="FBE7E3"/>
            </a:solidFill>
            <a:prstDash val="solid"/>
          </a:ln>
        </p:spPr>
      </p:sp>
      <p:sp>
        <p:nvSpPr>
          <p:cNvPr id="14" name="Text 11"/>
          <p:cNvSpPr txBox="1"/>
          <p:nvPr/>
        </p:nvSpPr>
        <p:spPr>
          <a:xfrm>
            <a:off x="4956048" y="2450592"/>
            <a:ext cx="1554480" cy="274320"/>
          </a:xfrm>
          <a:prstGeom prst="rect">
            <a:avLst/>
          </a:prstGeom>
          <a:noFill/>
          <a:ln/>
        </p:spPr>
        <p:txBody>
          <a:bodyPr wrap="square" lIns="0" tIns="0" rIns="0" bIns="0" rtlCol="0" anchor="t"/>
          <a:lstStyle/>
          <a:p>
            <a:pPr algn="l" indent="0" marL="0">
              <a:buNone/>
            </a:pPr>
            <a:r>
              <a:rPr lang="en-US" sz="1100" dirty="0">
                <a:solidFill>
                  <a:srgbClr val="5B6472"/>
                </a:solidFill>
                <a:latin typeface="Calibri" pitchFamily="34" charset="0"/>
                <a:ea typeface="Calibri" pitchFamily="34" charset="-122"/>
                <a:cs typeface="Calibri" pitchFamily="34" charset="-120"/>
              </a:rPr>
              <a:t>lower half</a:t>
            </a:r>
            <a:endParaRPr lang="en-US" sz="1100" dirty="0"/>
          </a:p>
        </p:txBody>
      </p:sp>
      <p:sp>
        <p:nvSpPr>
          <p:cNvPr id="15" name="Text 12"/>
          <p:cNvSpPr txBox="1"/>
          <p:nvPr/>
        </p:nvSpPr>
        <p:spPr>
          <a:xfrm>
            <a:off x="4956048" y="2724912"/>
            <a:ext cx="1554480" cy="320040"/>
          </a:xfrm>
          <a:prstGeom prst="rect">
            <a:avLst/>
          </a:prstGeom>
          <a:noFill/>
          <a:ln/>
        </p:spPr>
        <p:txBody>
          <a:bodyPr wrap="square" lIns="0" tIns="0" rIns="0" bIns="0" rtlCol="0" anchor="t"/>
          <a:lstStyle/>
          <a:p>
            <a:pPr algn="l" indent="0" marL="0">
              <a:buNone/>
            </a:pPr>
            <a:r>
              <a:rPr lang="en-US" sz="1300" b="1" dirty="0">
                <a:solidFill>
                  <a:srgbClr val="D8472C"/>
                </a:solidFill>
                <a:latin typeface="Calibri" pitchFamily="34" charset="0"/>
                <a:ea typeface="Calibri" pitchFamily="34" charset="-122"/>
                <a:cs typeface="Calibri" pitchFamily="34" charset="-120"/>
              </a:rPr>
              <a:t>"USB-C port"</a:t>
            </a:r>
            <a:endParaRPr lang="en-US" sz="1300" dirty="0"/>
          </a:p>
        </p:txBody>
      </p:sp>
      <p:sp>
        <p:nvSpPr>
          <p:cNvPr id="16" name="Shape 13"/>
          <p:cNvSpPr/>
          <p:nvPr/>
        </p:nvSpPr>
        <p:spPr>
          <a:xfrm>
            <a:off x="6766560" y="2377440"/>
            <a:ext cx="1783080" cy="731520"/>
          </a:xfrm>
          <a:prstGeom prst="roundRect">
            <a:avLst>
              <a:gd name="adj" fmla="val 10000"/>
            </a:avLst>
          </a:prstGeom>
          <a:solidFill>
            <a:srgbClr val="FBE7E3"/>
          </a:solidFill>
          <a:ln w="12700">
            <a:solidFill>
              <a:srgbClr val="FBE7E3"/>
            </a:solidFill>
            <a:prstDash val="solid"/>
          </a:ln>
        </p:spPr>
      </p:sp>
      <p:sp>
        <p:nvSpPr>
          <p:cNvPr id="17" name="Text 14"/>
          <p:cNvSpPr txBox="1"/>
          <p:nvPr/>
        </p:nvSpPr>
        <p:spPr>
          <a:xfrm>
            <a:off x="6876288" y="2450592"/>
            <a:ext cx="1554480" cy="274320"/>
          </a:xfrm>
          <a:prstGeom prst="rect">
            <a:avLst/>
          </a:prstGeom>
          <a:noFill/>
          <a:ln/>
        </p:spPr>
        <p:txBody>
          <a:bodyPr wrap="square" lIns="0" tIns="0" rIns="0" bIns="0" rtlCol="0" anchor="t"/>
          <a:lstStyle/>
          <a:p>
            <a:pPr algn="l" indent="0" marL="0">
              <a:buNone/>
            </a:pPr>
            <a:r>
              <a:rPr lang="en-US" sz="1100" dirty="0">
                <a:solidFill>
                  <a:srgbClr val="5B6472"/>
                </a:solidFill>
                <a:latin typeface="Calibri" pitchFamily="34" charset="0"/>
                <a:ea typeface="Calibri" pitchFamily="34" charset="-122"/>
                <a:cs typeface="Calibri" pitchFamily="34" charset="-120"/>
              </a:rPr>
              <a:t>mirror</a:t>
            </a:r>
            <a:endParaRPr lang="en-US" sz="1100" dirty="0"/>
          </a:p>
        </p:txBody>
      </p:sp>
      <p:sp>
        <p:nvSpPr>
          <p:cNvPr id="18" name="Text 15"/>
          <p:cNvSpPr txBox="1"/>
          <p:nvPr/>
        </p:nvSpPr>
        <p:spPr>
          <a:xfrm>
            <a:off x="6876288" y="2724912"/>
            <a:ext cx="1554480" cy="320040"/>
          </a:xfrm>
          <a:prstGeom prst="rect">
            <a:avLst/>
          </a:prstGeom>
          <a:noFill/>
          <a:ln/>
        </p:spPr>
        <p:txBody>
          <a:bodyPr wrap="square" lIns="0" tIns="0" rIns="0" bIns="0" rtlCol="0" anchor="t"/>
          <a:lstStyle/>
          <a:p>
            <a:pPr algn="l" indent="0" marL="0">
              <a:buNone/>
            </a:pPr>
            <a:r>
              <a:rPr lang="en-US" sz="1300" b="1" dirty="0">
                <a:solidFill>
                  <a:srgbClr val="D8472C"/>
                </a:solidFill>
                <a:latin typeface="Calibri" pitchFamily="34" charset="0"/>
                <a:ea typeface="Calibri" pitchFamily="34" charset="-122"/>
                <a:cs typeface="Calibri" pitchFamily="34" charset="-120"/>
              </a:rPr>
              <a:t>"USB-C port"</a:t>
            </a:r>
            <a:endParaRPr lang="en-US" sz="1300" dirty="0"/>
          </a:p>
        </p:txBody>
      </p:sp>
      <p:sp>
        <p:nvSpPr>
          <p:cNvPr id="19" name="Text 16"/>
          <p:cNvSpPr txBox="1"/>
          <p:nvPr/>
        </p:nvSpPr>
        <p:spPr>
          <a:xfrm>
            <a:off x="4846320" y="3291840"/>
            <a:ext cx="3931920" cy="128016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Qwen2.5-VL-3B named pub_07's HDMI port correctly on 1 of 4 variants and invented a printed label to match. A wrong answer fails two checks instead of one, so vision reading ships off: DUET says it cannot tell, names the candidate pages, and asks.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t"/>
          <a:lstStyle/>
          <a:p>
            <a:pPr indent="0" marL="0">
              <a:buNone/>
            </a:pPr>
            <a:r>
              <a:rPr lang="en-US" sz="2800" b="1" dirty="0">
                <a:solidFill>
                  <a:srgbClr val="14213D"/>
                </a:solidFill>
                <a:latin typeface="Cambria" pitchFamily="34" charset="0"/>
                <a:ea typeface="Cambria" pitchFamily="34" charset="-122"/>
                <a:cs typeface="Cambria" pitchFamily="34" charset="-120"/>
              </a:rPr>
              <a:t>Results</a:t>
            </a:r>
            <a:endParaRPr lang="en-US" sz="2800" dirty="0"/>
          </a:p>
        </p:txBody>
      </p:sp>
      <p:sp>
        <p:nvSpPr>
          <p:cNvPr id="3" name="Text 1"/>
          <p:cNvSpPr txBox="1"/>
          <p:nvPr/>
        </p:nvSpPr>
        <p:spPr>
          <a:xfrm>
            <a:off x="457200" y="1143000"/>
            <a:ext cx="1920240" cy="731520"/>
          </a:xfrm>
          <a:prstGeom prst="rect">
            <a:avLst/>
          </a:prstGeom>
          <a:noFill/>
          <a:ln/>
        </p:spPr>
        <p:txBody>
          <a:bodyPr wrap="square" lIns="0" tIns="0" rIns="0" bIns="0" rtlCol="0" anchor="t"/>
          <a:lstStyle/>
          <a:p>
            <a:pPr algn="l" indent="0" marL="0">
              <a:buNone/>
            </a:pPr>
            <a:r>
              <a:rPr lang="en-US" sz="4400" b="1" dirty="0">
                <a:solidFill>
                  <a:srgbClr val="14213D"/>
                </a:solidFill>
                <a:latin typeface="Calibri" pitchFamily="34" charset="0"/>
                <a:ea typeface="Calibri" pitchFamily="34" charset="-122"/>
                <a:cs typeface="Calibri" pitchFamily="34" charset="-120"/>
              </a:rPr>
              <a:t>97.4</a:t>
            </a:r>
            <a:endParaRPr lang="en-US" sz="4400" dirty="0"/>
          </a:p>
        </p:txBody>
      </p:sp>
      <p:sp>
        <p:nvSpPr>
          <p:cNvPr id="4" name="Text 2"/>
          <p:cNvSpPr txBox="1"/>
          <p:nvPr/>
        </p:nvSpPr>
        <p:spPr>
          <a:xfrm>
            <a:off x="2377440" y="1216152"/>
            <a:ext cx="2194560" cy="82296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official weighted score,</a:t>
            </a:r>
            <a:endParaRPr lang="en-US" sz="1200" dirty="0"/>
          </a:p>
          <a:p>
            <a:pPr algn="l" indent="0" marL="0">
              <a:buNone/>
            </a:pPr>
            <a:r>
              <a:rPr lang="en-US" sz="1200" dirty="0">
                <a:solidFill>
                  <a:srgbClr val="1F2937"/>
                </a:solidFill>
                <a:latin typeface="Calibri" pitchFamily="34" charset="0"/>
                <a:ea typeface="Calibri" pitchFamily="34" charset="-122"/>
                <a:cs typeface="Calibri" pitchFamily="34" charset="-120"/>
              </a:rPr>
              <a:t>public set (evaluator, scale 1)</a:t>
            </a:r>
            <a:endParaRPr lang="en-US" sz="1200" dirty="0"/>
          </a:p>
        </p:txBody>
      </p:sp>
      <p:sp>
        <p:nvSpPr>
          <p:cNvPr id="5" name="Text 3"/>
          <p:cNvSpPr txBox="1"/>
          <p:nvPr/>
        </p:nvSpPr>
        <p:spPr>
          <a:xfrm>
            <a:off x="457200" y="2331720"/>
            <a:ext cx="1920240" cy="731520"/>
          </a:xfrm>
          <a:prstGeom prst="rect">
            <a:avLst/>
          </a:prstGeom>
          <a:noFill/>
          <a:ln/>
        </p:spPr>
        <p:txBody>
          <a:bodyPr wrap="square" lIns="0" tIns="0" rIns="0" bIns="0" rtlCol="0" anchor="t"/>
          <a:lstStyle/>
          <a:p>
            <a:pPr algn="l" indent="0" marL="0">
              <a:buNone/>
            </a:pPr>
            <a:r>
              <a:rPr lang="en-US" sz="4400" b="1" dirty="0">
                <a:solidFill>
                  <a:srgbClr val="2A9D8F"/>
                </a:solidFill>
                <a:latin typeface="Calibri" pitchFamily="34" charset="0"/>
                <a:ea typeface="Calibri" pitchFamily="34" charset="-122"/>
                <a:cs typeface="Calibri" pitchFamily="34" charset="-120"/>
              </a:rPr>
              <a:t>99.7</a:t>
            </a:r>
            <a:endParaRPr lang="en-US" sz="4400" dirty="0"/>
          </a:p>
        </p:txBody>
      </p:sp>
      <p:sp>
        <p:nvSpPr>
          <p:cNvPr id="6" name="Text 4"/>
          <p:cNvSpPr txBox="1"/>
          <p:nvPr/>
        </p:nvSpPr>
        <p:spPr>
          <a:xfrm>
            <a:off x="2377440" y="2404872"/>
            <a:ext cx="2194560" cy="82296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mean on 120 scenarios, 8 templates, a seed never used before</a:t>
            </a:r>
            <a:endParaRPr lang="en-US" sz="1200" dirty="0"/>
          </a:p>
        </p:txBody>
      </p:sp>
      <p:sp>
        <p:nvSpPr>
          <p:cNvPr id="7" name="Text 5"/>
          <p:cNvSpPr txBox="1"/>
          <p:nvPr/>
        </p:nvSpPr>
        <p:spPr>
          <a:xfrm>
            <a:off x="457200" y="3520440"/>
            <a:ext cx="1920240" cy="731520"/>
          </a:xfrm>
          <a:prstGeom prst="rect">
            <a:avLst/>
          </a:prstGeom>
          <a:noFill/>
          <a:ln/>
        </p:spPr>
        <p:txBody>
          <a:bodyPr wrap="square" lIns="0" tIns="0" rIns="0" bIns="0" rtlCol="0" anchor="t"/>
          <a:lstStyle/>
          <a:p>
            <a:pPr algn="l" indent="0" marL="0">
              <a:buNone/>
            </a:pPr>
            <a:r>
              <a:rPr lang="en-US" sz="4400" b="1" dirty="0">
                <a:solidFill>
                  <a:srgbClr val="E9A23B"/>
                </a:solidFill>
                <a:latin typeface="Calibri" pitchFamily="34" charset="0"/>
                <a:ea typeface="Calibri" pitchFamily="34" charset="-122"/>
                <a:cs typeface="Calibri" pitchFamily="34" charset="-120"/>
              </a:rPr>
              <a:t>89.1</a:t>
            </a:r>
            <a:endParaRPr lang="en-US" sz="4400" dirty="0"/>
          </a:p>
        </p:txBody>
      </p:sp>
      <p:sp>
        <p:nvSpPr>
          <p:cNvPr id="8" name="Text 6"/>
          <p:cNvSpPr txBox="1"/>
          <p:nvPr/>
        </p:nvSpPr>
        <p:spPr>
          <a:xfrm>
            <a:off x="2377440" y="3593592"/>
            <a:ext cx="2194560" cy="82296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with every model switched off -</a:t>
            </a:r>
            <a:endParaRPr lang="en-US" sz="1200" dirty="0"/>
          </a:p>
          <a:p>
            <a:pPr algn="l" indent="0" marL="0">
              <a:buNone/>
            </a:pPr>
            <a:r>
              <a:rPr lang="en-US" sz="1200" dirty="0">
                <a:solidFill>
                  <a:srgbClr val="1F2937"/>
                </a:solidFill>
                <a:latin typeface="Calibri" pitchFamily="34" charset="0"/>
                <a:ea typeface="Calibri" pitchFamily="34" charset="-122"/>
                <a:cs typeface="Calibri" pitchFamily="34" charset="-120"/>
              </a:rPr>
              <a:t>never silent, never crashes</a:t>
            </a:r>
            <a:endParaRPr lang="en-US" sz="1200" dirty="0"/>
          </a:p>
        </p:txBody>
      </p:sp>
      <p:graphicFrame>
        <p:nvGraphicFramePr>
          <p:cNvPr id="9" name="Chart 0" descr=""/>
          <p:cNvGraphicFramePr/>
          <p:nvPr/>
        </p:nvGraphicFramePr>
        <p:xfrm>
          <a:off x="4754880" y="1097280"/>
          <a:ext cx="4023360" cy="292608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457200" y="4526280"/>
            <a:ext cx="8229600" cy="320040"/>
          </a:xfrm>
          <a:prstGeom prst="rect">
            <a:avLst/>
          </a:prstGeom>
          <a:noFill/>
          <a:ln/>
        </p:spPr>
        <p:txBody>
          <a:bodyPr wrap="square" lIns="0" tIns="0" rIns="0" bIns="0" rtlCol="0" anchor="t"/>
          <a:lstStyle/>
          <a:p>
            <a:pPr algn="l" indent="0" marL="0">
              <a:buNone/>
            </a:pPr>
            <a:r>
              <a:rPr lang="en-US" sz="1200" i="1" dirty="0">
                <a:solidFill>
                  <a:srgbClr val="5B6472"/>
                </a:solidFill>
                <a:latin typeface="Calibri" pitchFamily="34" charset="0"/>
                <a:ea typeface="Calibri" pitchFamily="34" charset="-122"/>
                <a:cs typeface="Calibri" pitchFamily="34" charset="-120"/>
              </a:rPr>
              <a:t>0 crashes · 0 protocol errors · 0 abandoned calls across every run.  373 tests.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t"/>
          <a:lstStyle/>
          <a:p>
            <a:pPr indent="0" marL="0">
              <a:buNone/>
            </a:pPr>
            <a:r>
              <a:rPr lang="en-US" sz="2800" b="1" dirty="0">
                <a:solidFill>
                  <a:srgbClr val="14213D"/>
                </a:solidFill>
                <a:latin typeface="Cambria" pitchFamily="34" charset="0"/>
                <a:ea typeface="Cambria" pitchFamily="34" charset="-122"/>
                <a:cs typeface="Cambria" pitchFamily="34" charset="-120"/>
              </a:rPr>
              <a:t>How we know: testing the tests</a:t>
            </a:r>
            <a:endParaRPr lang="en-US" sz="2800" dirty="0"/>
          </a:p>
        </p:txBody>
      </p:sp>
      <p:sp>
        <p:nvSpPr>
          <p:cNvPr id="3" name="Shape 1"/>
          <p:cNvSpPr/>
          <p:nvPr/>
        </p:nvSpPr>
        <p:spPr>
          <a:xfrm>
            <a:off x="457200" y="1234440"/>
            <a:ext cx="502920" cy="502920"/>
          </a:xfrm>
          <a:prstGeom prst="ellipse">
            <a:avLst/>
          </a:prstGeom>
          <a:solidFill>
            <a:srgbClr val="14213D"/>
          </a:solidFill>
          <a:ln w="12700">
            <a:solidFill>
              <a:srgbClr val="14213D"/>
            </a:solidFill>
            <a:prstDash val="solid"/>
          </a:ln>
        </p:spPr>
      </p:sp>
      <p:sp>
        <p:nvSpPr>
          <p:cNvPr id="4" name="Text 2"/>
          <p:cNvSpPr txBox="1"/>
          <p:nvPr/>
        </p:nvSpPr>
        <p:spPr>
          <a:xfrm>
            <a:off x="457200" y="12344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5" name="Shape 3"/>
          <p:cNvSpPr/>
          <p:nvPr/>
        </p:nvSpPr>
        <p:spPr>
          <a:xfrm>
            <a:off x="1005840" y="1485900"/>
            <a:ext cx="1463040" cy="0"/>
          </a:xfrm>
          <a:prstGeom prst="line">
            <a:avLst/>
          </a:prstGeom>
          <a:noFill/>
          <a:ln w="19050">
            <a:solidFill>
              <a:srgbClr val="C9D3E3"/>
            </a:solidFill>
            <a:prstDash val="solid"/>
          </a:ln>
        </p:spPr>
      </p:sp>
      <p:sp>
        <p:nvSpPr>
          <p:cNvPr id="6" name="Text 4"/>
          <p:cNvSpPr txBox="1"/>
          <p:nvPr/>
        </p:nvSpPr>
        <p:spPr>
          <a:xfrm>
            <a:off x="457200" y="1874520"/>
            <a:ext cx="1920240" cy="365760"/>
          </a:xfrm>
          <a:prstGeom prst="rect">
            <a:avLst/>
          </a:prstGeom>
          <a:noFill/>
          <a:ln/>
        </p:spPr>
        <p:txBody>
          <a:bodyPr wrap="square" lIns="0" tIns="0" rIns="0" bIns="0" rtlCol="0" anchor="t"/>
          <a:lstStyle/>
          <a:p>
            <a:pPr algn="l" indent="0" marL="0">
              <a:buNone/>
            </a:pPr>
            <a:r>
              <a:rPr lang="en-US" sz="1500" b="1" dirty="0">
                <a:solidFill>
                  <a:srgbClr val="14213D"/>
                </a:solidFill>
                <a:latin typeface="Calibri" pitchFamily="34" charset="0"/>
                <a:ea typeface="Calibri" pitchFamily="34" charset="-122"/>
                <a:cs typeface="Calibri" pitchFamily="34" charset="-120"/>
              </a:rPr>
              <a:t>Conformance</a:t>
            </a:r>
            <a:endParaRPr lang="en-US" sz="1500" dirty="0"/>
          </a:p>
        </p:txBody>
      </p:sp>
      <p:sp>
        <p:nvSpPr>
          <p:cNvPr id="7" name="Text 5"/>
          <p:cNvSpPr txBox="1"/>
          <p:nvPr/>
        </p:nvSpPr>
        <p:spPr>
          <a:xfrm>
            <a:off x="457200" y="2286000"/>
            <a:ext cx="1920240" cy="2011680"/>
          </a:xfrm>
          <a:prstGeom prst="rect">
            <a:avLst/>
          </a:prstGeom>
          <a:noFill/>
          <a:ln/>
        </p:spPr>
        <p:txBody>
          <a:bodyPr wrap="square" lIns="0" tIns="0" rIns="0" bIns="0" rtlCol="0" anchor="t"/>
          <a:lstStyle/>
          <a:p>
            <a:pPr algn="l" indent="0" marL="0">
              <a:buNone/>
            </a:pPr>
            <a:r>
              <a:rPr lang="en-US" sz="1150" dirty="0">
                <a:solidFill>
                  <a:srgbClr val="1F2937"/>
                </a:solidFill>
                <a:latin typeface="Calibri" pitchFamily="34" charset="0"/>
                <a:ea typeface="Calibri" pitchFamily="34" charset="-122"/>
                <a:cs typeface="Calibri" pitchFamily="34" charset="-120"/>
              </a:rPr>
              <a:t>23 scenarios the kit does not cover. Each interruption case is proven to fail an agent that does not cancel.</a:t>
            </a:r>
            <a:endParaRPr lang="en-US" sz="1150" dirty="0"/>
          </a:p>
        </p:txBody>
      </p:sp>
      <p:sp>
        <p:nvSpPr>
          <p:cNvPr id="8" name="Shape 6"/>
          <p:cNvSpPr/>
          <p:nvPr/>
        </p:nvSpPr>
        <p:spPr>
          <a:xfrm>
            <a:off x="2560320" y="1234440"/>
            <a:ext cx="502920" cy="502920"/>
          </a:xfrm>
          <a:prstGeom prst="ellipse">
            <a:avLst/>
          </a:prstGeom>
          <a:solidFill>
            <a:srgbClr val="D8472C"/>
          </a:solidFill>
          <a:ln w="12700">
            <a:solidFill>
              <a:srgbClr val="D8472C"/>
            </a:solidFill>
            <a:prstDash val="solid"/>
          </a:ln>
        </p:spPr>
      </p:sp>
      <p:sp>
        <p:nvSpPr>
          <p:cNvPr id="9" name="Text 7"/>
          <p:cNvSpPr txBox="1"/>
          <p:nvPr/>
        </p:nvSpPr>
        <p:spPr>
          <a:xfrm>
            <a:off x="2560320" y="12344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Shape 8"/>
          <p:cNvSpPr/>
          <p:nvPr/>
        </p:nvSpPr>
        <p:spPr>
          <a:xfrm>
            <a:off x="3108960" y="1485900"/>
            <a:ext cx="1463040" cy="0"/>
          </a:xfrm>
          <a:prstGeom prst="line">
            <a:avLst/>
          </a:prstGeom>
          <a:noFill/>
          <a:ln w="19050">
            <a:solidFill>
              <a:srgbClr val="C9D3E3"/>
            </a:solidFill>
            <a:prstDash val="solid"/>
          </a:ln>
        </p:spPr>
      </p:sp>
      <p:sp>
        <p:nvSpPr>
          <p:cNvPr id="11" name="Text 9"/>
          <p:cNvSpPr txBox="1"/>
          <p:nvPr/>
        </p:nvSpPr>
        <p:spPr>
          <a:xfrm>
            <a:off x="2560320" y="1874520"/>
            <a:ext cx="1920240" cy="365760"/>
          </a:xfrm>
          <a:prstGeom prst="rect">
            <a:avLst/>
          </a:prstGeom>
          <a:noFill/>
          <a:ln/>
        </p:spPr>
        <p:txBody>
          <a:bodyPr wrap="square" lIns="0" tIns="0" rIns="0" bIns="0" rtlCol="0" anchor="t"/>
          <a:lstStyle/>
          <a:p>
            <a:pPr algn="l" indent="0" marL="0">
              <a:buNone/>
            </a:pPr>
            <a:r>
              <a:rPr lang="en-US" sz="1500" b="1" dirty="0">
                <a:solidFill>
                  <a:srgbClr val="14213D"/>
                </a:solidFill>
                <a:latin typeface="Calibri" pitchFamily="34" charset="0"/>
                <a:ea typeface="Calibri" pitchFamily="34" charset="-122"/>
                <a:cs typeface="Calibri" pitchFamily="34" charset="-120"/>
              </a:rPr>
              <a:t>Transcript lint</a:t>
            </a:r>
            <a:endParaRPr lang="en-US" sz="1500" dirty="0"/>
          </a:p>
        </p:txBody>
      </p:sp>
      <p:sp>
        <p:nvSpPr>
          <p:cNvPr id="12" name="Text 10"/>
          <p:cNvSpPr txBox="1"/>
          <p:nvPr/>
        </p:nvSpPr>
        <p:spPr>
          <a:xfrm>
            <a:off x="2560320" y="2286000"/>
            <a:ext cx="1920240" cy="2011680"/>
          </a:xfrm>
          <a:prstGeom prst="rect">
            <a:avLst/>
          </a:prstGeom>
          <a:noFill/>
          <a:ln/>
        </p:spPr>
        <p:txBody>
          <a:bodyPr wrap="square" lIns="0" tIns="0" rIns="0" bIns="0" rtlCol="0" anchor="t"/>
          <a:lstStyle/>
          <a:p>
            <a:pPr algn="l" indent="0" marL="0">
              <a:buNone/>
            </a:pPr>
            <a:r>
              <a:rPr lang="en-US" sz="1150" dirty="0">
                <a:solidFill>
                  <a:srgbClr val="1F2937"/>
                </a:solidFill>
                <a:latin typeface="Calibri" pitchFamily="34" charset="0"/>
                <a:ea typeface="Calibri" pitchFamily="34" charset="-122"/>
                <a:cs typeface="Calibri" pitchFamily="34" charset="-120"/>
              </a:rPr>
              <a:t>The score cannot hear the agent. The first read found a garbled final answer in 6 of 17 scenarios that all scored 100. Now 0 of 32.</a:t>
            </a:r>
            <a:endParaRPr lang="en-US" sz="1150" dirty="0"/>
          </a:p>
        </p:txBody>
      </p:sp>
      <p:sp>
        <p:nvSpPr>
          <p:cNvPr id="13" name="Shape 11"/>
          <p:cNvSpPr/>
          <p:nvPr/>
        </p:nvSpPr>
        <p:spPr>
          <a:xfrm>
            <a:off x="4663440" y="1234440"/>
            <a:ext cx="502920" cy="502920"/>
          </a:xfrm>
          <a:prstGeom prst="ellipse">
            <a:avLst/>
          </a:prstGeom>
          <a:solidFill>
            <a:srgbClr val="2A9D8F"/>
          </a:solidFill>
          <a:ln w="12700">
            <a:solidFill>
              <a:srgbClr val="2A9D8F"/>
            </a:solidFill>
            <a:prstDash val="solid"/>
          </a:ln>
        </p:spPr>
      </p:sp>
      <p:sp>
        <p:nvSpPr>
          <p:cNvPr id="14" name="Text 12"/>
          <p:cNvSpPr txBox="1"/>
          <p:nvPr/>
        </p:nvSpPr>
        <p:spPr>
          <a:xfrm>
            <a:off x="4663440" y="12344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5" name="Shape 13"/>
          <p:cNvSpPr/>
          <p:nvPr/>
        </p:nvSpPr>
        <p:spPr>
          <a:xfrm>
            <a:off x="5212080" y="1485900"/>
            <a:ext cx="1463040" cy="0"/>
          </a:xfrm>
          <a:prstGeom prst="line">
            <a:avLst/>
          </a:prstGeom>
          <a:noFill/>
          <a:ln w="19050">
            <a:solidFill>
              <a:srgbClr val="C9D3E3"/>
            </a:solidFill>
            <a:prstDash val="solid"/>
          </a:ln>
        </p:spPr>
      </p:sp>
      <p:sp>
        <p:nvSpPr>
          <p:cNvPr id="16" name="Text 14"/>
          <p:cNvSpPr txBox="1"/>
          <p:nvPr/>
        </p:nvSpPr>
        <p:spPr>
          <a:xfrm>
            <a:off x="4663440" y="1874520"/>
            <a:ext cx="1920240" cy="365760"/>
          </a:xfrm>
          <a:prstGeom prst="rect">
            <a:avLst/>
          </a:prstGeom>
          <a:noFill/>
          <a:ln/>
        </p:spPr>
        <p:txBody>
          <a:bodyPr wrap="square" lIns="0" tIns="0" rIns="0" bIns="0" rtlCol="0" anchor="t"/>
          <a:lstStyle/>
          <a:p>
            <a:pPr algn="l" indent="0" marL="0">
              <a:buNone/>
            </a:pPr>
            <a:r>
              <a:rPr lang="en-US" sz="1500" b="1" dirty="0">
                <a:solidFill>
                  <a:srgbClr val="14213D"/>
                </a:solidFill>
                <a:latin typeface="Calibri" pitchFamily="34" charset="0"/>
                <a:ea typeface="Calibri" pitchFamily="34" charset="-122"/>
                <a:cs typeface="Calibri" pitchFamily="34" charset="-120"/>
              </a:rPr>
              <a:t>Our own chaos</a:t>
            </a:r>
            <a:endParaRPr lang="en-US" sz="1500" dirty="0"/>
          </a:p>
        </p:txBody>
      </p:sp>
      <p:sp>
        <p:nvSpPr>
          <p:cNvPr id="17" name="Text 15"/>
          <p:cNvSpPr txBox="1"/>
          <p:nvPr/>
        </p:nvSpPr>
        <p:spPr>
          <a:xfrm>
            <a:off x="4663440" y="2286000"/>
            <a:ext cx="1920240" cy="2011680"/>
          </a:xfrm>
          <a:prstGeom prst="rect">
            <a:avLst/>
          </a:prstGeom>
          <a:noFill/>
          <a:ln/>
        </p:spPr>
        <p:txBody>
          <a:bodyPr wrap="square" lIns="0" tIns="0" rIns="0" bIns="0" rtlCol="0" anchor="t"/>
          <a:lstStyle/>
          <a:p>
            <a:pPr algn="l" indent="0" marL="0">
              <a:buNone/>
            </a:pPr>
            <a:r>
              <a:rPr lang="en-US" sz="1150" dirty="0">
                <a:solidFill>
                  <a:srgbClr val="1F2937"/>
                </a:solidFill>
                <a:latin typeface="Calibri" pitchFamily="34" charset="0"/>
                <a:ea typeface="Calibri" pitchFamily="34" charset="-122"/>
                <a:cs typeface="Calibri" pitchFamily="34" charset="-120"/>
              </a:rPr>
              <a:t>Randomized paraphrase, pivot, booking and unseen-tool templates: 88.1 on first run, six general fixes, 99.7 on a seed never used before.</a:t>
            </a:r>
            <a:endParaRPr lang="en-US" sz="1150" dirty="0"/>
          </a:p>
        </p:txBody>
      </p:sp>
      <p:sp>
        <p:nvSpPr>
          <p:cNvPr id="18" name="Shape 16"/>
          <p:cNvSpPr/>
          <p:nvPr/>
        </p:nvSpPr>
        <p:spPr>
          <a:xfrm>
            <a:off x="6766560" y="1234440"/>
            <a:ext cx="502920" cy="502920"/>
          </a:xfrm>
          <a:prstGeom prst="ellipse">
            <a:avLst/>
          </a:prstGeom>
          <a:solidFill>
            <a:srgbClr val="E9A23B"/>
          </a:solidFill>
          <a:ln w="12700">
            <a:solidFill>
              <a:srgbClr val="E9A23B"/>
            </a:solidFill>
            <a:prstDash val="solid"/>
          </a:ln>
        </p:spPr>
      </p:sp>
      <p:sp>
        <p:nvSpPr>
          <p:cNvPr id="19" name="Text 17"/>
          <p:cNvSpPr txBox="1"/>
          <p:nvPr/>
        </p:nvSpPr>
        <p:spPr>
          <a:xfrm>
            <a:off x="6766560" y="12344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txBox="1"/>
          <p:nvPr/>
        </p:nvSpPr>
        <p:spPr>
          <a:xfrm>
            <a:off x="6766560" y="1874520"/>
            <a:ext cx="1920240" cy="365760"/>
          </a:xfrm>
          <a:prstGeom prst="rect">
            <a:avLst/>
          </a:prstGeom>
          <a:noFill/>
          <a:ln/>
        </p:spPr>
        <p:txBody>
          <a:bodyPr wrap="square" lIns="0" tIns="0" rIns="0" bIns="0" rtlCol="0" anchor="t"/>
          <a:lstStyle/>
          <a:p>
            <a:pPr algn="l" indent="0" marL="0">
              <a:buNone/>
            </a:pPr>
            <a:r>
              <a:rPr lang="en-US" sz="1500" b="1" dirty="0">
                <a:solidFill>
                  <a:srgbClr val="14213D"/>
                </a:solidFill>
                <a:latin typeface="Calibri" pitchFamily="34" charset="0"/>
                <a:ea typeface="Calibri" pitchFamily="34" charset="-122"/>
                <a:cs typeface="Calibri" pitchFamily="34" charset="-120"/>
              </a:rPr>
              <a:t>Degradation + pins</a:t>
            </a:r>
            <a:endParaRPr lang="en-US" sz="1500" dirty="0"/>
          </a:p>
        </p:txBody>
      </p:sp>
      <p:sp>
        <p:nvSpPr>
          <p:cNvPr id="21" name="Text 19"/>
          <p:cNvSpPr txBox="1"/>
          <p:nvPr/>
        </p:nvSpPr>
        <p:spPr>
          <a:xfrm>
            <a:off x="6766560" y="2286000"/>
            <a:ext cx="1920240" cy="2011680"/>
          </a:xfrm>
          <a:prstGeom prst="rect">
            <a:avLst/>
          </a:prstGeom>
          <a:noFill/>
          <a:ln/>
        </p:spPr>
        <p:txBody>
          <a:bodyPr wrap="square" lIns="0" tIns="0" rIns="0" bIns="0" rtlCol="0" anchor="t"/>
          <a:lstStyle/>
          <a:p>
            <a:pPr algn="l" indent="0" marL="0">
              <a:buNone/>
            </a:pPr>
            <a:r>
              <a:rPr lang="en-US" sz="1150" dirty="0">
                <a:solidFill>
                  <a:srgbClr val="1F2937"/>
                </a:solidFill>
                <a:latin typeface="Calibri" pitchFamily="34" charset="0"/>
                <a:ea typeface="Calibri" pitchFamily="34" charset="-122"/>
                <a:cs typeface="Calibri" pitchFamily="34" charset="-120"/>
              </a:rPr>
              <a:t>89.1 with no models. Every dependency and model pinned; the GPU stack proves itself in setup() or falls back.</a:t>
            </a:r>
            <a:endParaRPr lang="en-US" sz="1150" dirty="0"/>
          </a:p>
        </p:txBody>
      </p:sp>
      <p:sp>
        <p:nvSpPr>
          <p:cNvPr id="22" name="Text 20"/>
          <p:cNvSpPr txBox="1"/>
          <p:nvPr/>
        </p:nvSpPr>
        <p:spPr>
          <a:xfrm>
            <a:off x="457200" y="3931920"/>
            <a:ext cx="8229600" cy="411480"/>
          </a:xfrm>
          <a:prstGeom prst="rect">
            <a:avLst/>
          </a:prstGeom>
          <a:noFill/>
          <a:ln/>
        </p:spPr>
        <p:txBody>
          <a:bodyPr wrap="square" lIns="0" tIns="0" rIns="0" bIns="0" rtlCol="0" anchor="t"/>
          <a:lstStyle/>
          <a:p>
            <a:pPr algn="l" indent="0" marL="0">
              <a:buNone/>
            </a:pPr>
            <a:r>
              <a:rPr lang="en-US" sz="1250" i="1" dirty="0">
                <a:solidFill>
                  <a:srgbClr val="14213D"/>
                </a:solidFill>
                <a:latin typeface="Calibri" pitchFamily="34" charset="0"/>
                <a:ea typeface="Calibri" pitchFamily="34" charset="-122"/>
                <a:cs typeface="Calibri" pitchFamily="34" charset="-120"/>
              </a:rPr>
              <a:t>Rule we kept: if a change improves the public nine but worsens unseen scenarios, it is a hardcode and it is reverted.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85800"/>
          </a:xfrm>
          <a:prstGeom prst="rect">
            <a:avLst/>
          </a:prstGeom>
          <a:noFill/>
          <a:ln/>
        </p:spPr>
        <p:txBody>
          <a:bodyPr wrap="square" lIns="0" tIns="0" rIns="0" bIns="0" rtlCol="0" anchor="t"/>
          <a:lstStyle/>
          <a:p>
            <a:pPr indent="0" marL="0">
              <a:buNone/>
            </a:pPr>
            <a:r>
              <a:rPr lang="en-US" sz="2800" b="1" dirty="0">
                <a:solidFill>
                  <a:srgbClr val="14213D"/>
                </a:solidFill>
                <a:latin typeface="Cambria" pitchFamily="34" charset="0"/>
                <a:ea typeface="Cambria" pitchFamily="34" charset="-122"/>
                <a:cs typeface="Cambria" pitchFamily="34" charset="-120"/>
              </a:rPr>
              <a:t>Honest limits, and where DUET goes next</a:t>
            </a:r>
            <a:endParaRPr lang="en-US" sz="2800" dirty="0"/>
          </a:p>
        </p:txBody>
      </p:sp>
      <p:sp>
        <p:nvSpPr>
          <p:cNvPr id="3" name="Shape 1"/>
          <p:cNvSpPr/>
          <p:nvPr/>
        </p:nvSpPr>
        <p:spPr>
          <a:xfrm>
            <a:off x="457200" y="1188720"/>
            <a:ext cx="3931920" cy="2697480"/>
          </a:xfrm>
          <a:prstGeom prst="roundRect">
            <a:avLst>
              <a:gd name="adj" fmla="val 2712"/>
            </a:avLst>
          </a:prstGeom>
          <a:solidFill>
            <a:srgbClr val="F1F4F8"/>
          </a:solidFill>
          <a:ln w="12700">
            <a:solidFill>
              <a:srgbClr val="F1F4F8"/>
            </a:solidFill>
            <a:prstDash val="solid"/>
          </a:ln>
        </p:spPr>
      </p:sp>
      <p:sp>
        <p:nvSpPr>
          <p:cNvPr id="4" name="Text 2"/>
          <p:cNvSpPr txBox="1"/>
          <p:nvPr/>
        </p:nvSpPr>
        <p:spPr>
          <a:xfrm>
            <a:off x="658368" y="1325880"/>
            <a:ext cx="3566160" cy="320040"/>
          </a:xfrm>
          <a:prstGeom prst="rect">
            <a:avLst/>
          </a:prstGeom>
          <a:noFill/>
          <a:ln/>
        </p:spPr>
        <p:txBody>
          <a:bodyPr wrap="square" lIns="0" tIns="0" rIns="0" bIns="0" rtlCol="0" anchor="t"/>
          <a:lstStyle/>
          <a:p>
            <a:pPr algn="l" indent="0" marL="0">
              <a:buNone/>
            </a:pPr>
            <a:r>
              <a:rPr lang="en-US" sz="1500" b="1" dirty="0">
                <a:solidFill>
                  <a:srgbClr val="D8472C"/>
                </a:solidFill>
                <a:latin typeface="Calibri" pitchFamily="34" charset="0"/>
                <a:ea typeface="Calibri" pitchFamily="34" charset="-122"/>
                <a:cs typeface="Calibri" pitchFamily="34" charset="-120"/>
              </a:rPr>
              <a:t>Limits we measured</a:t>
            </a:r>
            <a:endParaRPr lang="en-US" sz="1500" dirty="0"/>
          </a:p>
        </p:txBody>
      </p:sp>
      <p:sp>
        <p:nvSpPr>
          <p:cNvPr id="5" name="Text 3"/>
          <p:cNvSpPr txBox="1"/>
          <p:nvPr/>
        </p:nvSpPr>
        <p:spPr>
          <a:xfrm>
            <a:off x="658368" y="1737360"/>
            <a:ext cx="3566160" cy="2743200"/>
          </a:xfrm>
          <a:prstGeom prst="rect">
            <a:avLst/>
          </a:prstGeom>
          <a:noFill/>
          <a:ln/>
        </p:spPr>
        <p:txBody>
          <a:bodyPr wrap="square" lIns="0" tIns="0" rIns="0" bIns="0" rtlCol="0" anchor="t"/>
          <a:lstStyle/>
          <a:p>
            <a:pPr algn="l" marL="342900" indent="-342900">
              <a:spcAft>
                <a:spcPts val="800"/>
              </a:spcAft>
              <a:buSzPct val="100000"/>
              <a:buChar char="•"/>
            </a:pPr>
            <a:r>
              <a:rPr lang="en-US" sz="1200" dirty="0">
                <a:solidFill>
                  <a:srgbClr val="1F2937"/>
                </a:solidFill>
                <a:latin typeface="Calibri" pitchFamily="34" charset="0"/>
                <a:ea typeface="Calibri" pitchFamily="34" charset="-122"/>
                <a:cs typeface="Calibri" pitchFamily="34" charset="-120"/>
              </a:rPr>
              <a:t>Naming a component in a photo: the 3B vision model was wrong 3 times in 4, so it ships off.</a:t>
            </a:r>
            <a:endParaRPr lang="en-US" sz="1200" dirty="0"/>
          </a:p>
          <a:p>
            <a:pPr algn="l" marL="342900" indent="-342900">
              <a:spcAft>
                <a:spcPts val="800"/>
              </a:spcAft>
              <a:buSzPct val="100000"/>
              <a:buChar char="•"/>
            </a:pPr>
            <a:r>
              <a:rPr lang="en-US" sz="1200" dirty="0">
                <a:solidFill>
                  <a:srgbClr val="1F2937"/>
                </a:solidFill>
                <a:latin typeface="Calibri" pitchFamily="34" charset="0"/>
                <a:ea typeface="Calibri" pitchFamily="34" charset="-122"/>
                <a:cs typeface="Calibri" pitchFamily="34" charset="-120"/>
              </a:rPr>
              <a:t>A self-repair whose trigger word is lost in heavy noise can leave the abandoned value in place.</a:t>
            </a:r>
            <a:endParaRPr lang="en-US" sz="1200" dirty="0"/>
          </a:p>
          <a:p>
            <a:pPr algn="l" marL="342900" indent="-342900">
              <a:spcAft>
                <a:spcPts val="800"/>
              </a:spcAft>
              <a:buSzPct val="100000"/>
              <a:buChar char="•"/>
            </a:pPr>
            <a:r>
              <a:rPr lang="en-US" sz="1200" dirty="0">
                <a:solidFill>
                  <a:srgbClr val="1F2937"/>
                </a:solidFill>
                <a:latin typeface="Calibri" pitchFamily="34" charset="0"/>
                <a:ea typeface="Calibri" pitchFamily="34" charset="-122"/>
                <a:cs typeface="Calibri" pitchFamily="34" charset="-120"/>
              </a:rPr>
              <a:t>The planner is rules, not a language model: deterministic and fast, but its phrasing coverage is what we have tested.</a:t>
            </a:r>
            <a:endParaRPr lang="en-US" sz="1200" dirty="0"/>
          </a:p>
        </p:txBody>
      </p:sp>
      <p:sp>
        <p:nvSpPr>
          <p:cNvPr id="6" name="Shape 4"/>
          <p:cNvSpPr/>
          <p:nvPr/>
        </p:nvSpPr>
        <p:spPr>
          <a:xfrm>
            <a:off x="4754880" y="1188720"/>
            <a:ext cx="3931920" cy="2697480"/>
          </a:xfrm>
          <a:prstGeom prst="roundRect">
            <a:avLst>
              <a:gd name="adj" fmla="val 2712"/>
            </a:avLst>
          </a:prstGeom>
          <a:solidFill>
            <a:srgbClr val="E3F2EF"/>
          </a:solidFill>
          <a:ln w="12700">
            <a:solidFill>
              <a:srgbClr val="E3F2EF"/>
            </a:solidFill>
            <a:prstDash val="solid"/>
          </a:ln>
        </p:spPr>
      </p:sp>
      <p:sp>
        <p:nvSpPr>
          <p:cNvPr id="7" name="Text 5"/>
          <p:cNvSpPr txBox="1"/>
          <p:nvPr/>
        </p:nvSpPr>
        <p:spPr>
          <a:xfrm>
            <a:off x="4956048" y="1325880"/>
            <a:ext cx="3566160" cy="320040"/>
          </a:xfrm>
          <a:prstGeom prst="rect">
            <a:avLst/>
          </a:prstGeom>
          <a:noFill/>
          <a:ln/>
        </p:spPr>
        <p:txBody>
          <a:bodyPr wrap="square" lIns="0" tIns="0" rIns="0" bIns="0" rtlCol="0" anchor="t"/>
          <a:lstStyle/>
          <a:p>
            <a:pPr algn="l" indent="0" marL="0">
              <a:buNone/>
            </a:pPr>
            <a:r>
              <a:rPr lang="en-US" sz="1500" b="1" dirty="0">
                <a:solidFill>
                  <a:srgbClr val="2A9D8F"/>
                </a:solidFill>
                <a:latin typeface="Calibri" pitchFamily="34" charset="0"/>
                <a:ea typeface="Calibri" pitchFamily="34" charset="-122"/>
                <a:cs typeface="Calibri" pitchFamily="34" charset="-120"/>
              </a:rPr>
              <a:t>Next, as a PRISM worklet</a:t>
            </a:r>
            <a:endParaRPr lang="en-US" sz="1500" dirty="0"/>
          </a:p>
        </p:txBody>
      </p:sp>
      <p:sp>
        <p:nvSpPr>
          <p:cNvPr id="8" name="Text 6"/>
          <p:cNvSpPr txBox="1"/>
          <p:nvPr/>
        </p:nvSpPr>
        <p:spPr>
          <a:xfrm>
            <a:off x="4956048" y="1737360"/>
            <a:ext cx="3566160" cy="2743200"/>
          </a:xfrm>
          <a:prstGeom prst="rect">
            <a:avLst/>
          </a:prstGeom>
          <a:noFill/>
          <a:ln/>
        </p:spPr>
        <p:txBody>
          <a:bodyPr wrap="square" lIns="0" tIns="0" rIns="0" bIns="0" rtlCol="0" anchor="t"/>
          <a:lstStyle/>
          <a:p>
            <a:pPr algn="l" marL="342900" indent="-342900">
              <a:spcAft>
                <a:spcPts val="800"/>
              </a:spcAft>
              <a:buSzPct val="100000"/>
              <a:buChar char="•"/>
            </a:pPr>
            <a:r>
              <a:rPr lang="en-US" sz="1200" dirty="0">
                <a:solidFill>
                  <a:srgbClr val="1F2937"/>
                </a:solidFill>
                <a:latin typeface="Calibri" pitchFamily="34" charset="0"/>
                <a:ea typeface="Calibri" pitchFamily="34" charset="-122"/>
                <a:cs typeface="Calibri" pitchFamily="34" charset="-120"/>
              </a:rPr>
              <a:t>DUET as the coordination layer between Bixby's speech and SmartThings actions - any device manifest, zero retraining.</a:t>
            </a:r>
            <a:endParaRPr lang="en-US" sz="1200" dirty="0"/>
          </a:p>
          <a:p>
            <a:pPr algn="l" marL="342900" indent="-342900">
              <a:spcAft>
                <a:spcPts val="800"/>
              </a:spcAft>
              <a:buSzPct val="100000"/>
              <a:buChar char="•"/>
            </a:pPr>
            <a:r>
              <a:rPr lang="en-US" sz="1200" dirty="0">
                <a:solidFill>
                  <a:srgbClr val="1F2937"/>
                </a:solidFill>
                <a:latin typeface="Calibri" pitchFamily="34" charset="0"/>
                <a:ea typeface="Calibri" pitchFamily="34" charset="-122"/>
                <a:cs typeface="Calibri" pitchFamily="34" charset="-120"/>
              </a:rPr>
              <a:t>A larger vision model, admitted only once it passes our vision bench on device photos.</a:t>
            </a:r>
            <a:endParaRPr lang="en-US" sz="1200" dirty="0"/>
          </a:p>
          <a:p>
            <a:pPr algn="l" marL="342900" indent="-342900">
              <a:spcAft>
                <a:spcPts val="800"/>
              </a:spcAft>
              <a:buSzPct val="100000"/>
              <a:buChar char="•"/>
            </a:pPr>
            <a:r>
              <a:rPr lang="en-US" sz="1200" dirty="0">
                <a:solidFill>
                  <a:srgbClr val="1F2937"/>
                </a:solidFill>
                <a:latin typeface="Calibri" pitchFamily="34" charset="0"/>
                <a:ea typeface="Calibri" pitchFamily="34" charset="-122"/>
                <a:cs typeface="Calibri" pitchFamily="34" charset="-120"/>
              </a:rPr>
              <a:t>A language-model planner raced behind the rules with a hard timeout - rules stay the floor.</a:t>
            </a:r>
            <a:endParaRPr lang="en-US" sz="1200" dirty="0"/>
          </a:p>
        </p:txBody>
      </p:sp>
      <p:sp>
        <p:nvSpPr>
          <p:cNvPr id="9" name="Text 7"/>
          <p:cNvSpPr txBox="1"/>
          <p:nvPr/>
        </p:nvSpPr>
        <p:spPr>
          <a:xfrm>
            <a:off x="457200" y="4114800"/>
            <a:ext cx="8229600" cy="365760"/>
          </a:xfrm>
          <a:prstGeom prst="rect">
            <a:avLst/>
          </a:prstGeom>
          <a:noFill/>
          <a:ln/>
        </p:spPr>
        <p:txBody>
          <a:bodyPr wrap="square" lIns="0" tIns="0" rIns="0" bIns="0" rtlCol="0" anchor="t"/>
          <a:lstStyle/>
          <a:p>
            <a:pPr algn="l" indent="0" marL="0">
              <a:buNone/>
            </a:pPr>
            <a:r>
              <a:rPr lang="en-US" sz="1200" i="1" dirty="0">
                <a:solidFill>
                  <a:srgbClr val="5B6472"/>
                </a:solidFill>
                <a:latin typeface="Calibri" pitchFamily="34" charset="0"/>
                <a:ea typeface="Calibri" pitchFamily="34" charset="-122"/>
                <a:cs typeface="Calibri" pitchFamily="34" charset="-120"/>
              </a:rPr>
              <a:t>Every limit is written up with its evidence in notes/FINDINGS.md (F18, F21), next to what we tried.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097280"/>
            <a:ext cx="8046720" cy="640080"/>
          </a:xfrm>
          <a:prstGeom prst="rect">
            <a:avLst/>
          </a:prstGeom>
          <a:noFill/>
          <a:ln/>
        </p:spPr>
        <p:txBody>
          <a:bodyPr wrap="square" lIns="0" tIns="0" rIns="0" bIns="0" rtlCol="0" anchor="ctr"/>
          <a:lstStyle/>
          <a:p>
            <a:pPr indent="0" marL="0">
              <a:buNone/>
            </a:pPr>
            <a:r>
              <a:rPr lang="en-US" sz="3200" dirty="0">
                <a:solidFill>
                  <a:srgbClr val="C9D3E3"/>
                </a:solidFill>
                <a:latin typeface="Cambria" pitchFamily="34" charset="0"/>
                <a:ea typeface="Cambria" pitchFamily="34" charset="-122"/>
                <a:cs typeface="Cambria" pitchFamily="34" charset="-120"/>
              </a:rPr>
              <a:t>Full-duplex speech is solved.</a:t>
            </a:r>
            <a:endParaRPr lang="en-US" sz="3200" dirty="0"/>
          </a:p>
        </p:txBody>
      </p:sp>
      <p:sp>
        <p:nvSpPr>
          <p:cNvPr id="3" name="Text 1"/>
          <p:cNvSpPr txBox="1"/>
          <p:nvPr/>
        </p:nvSpPr>
        <p:spPr>
          <a:xfrm>
            <a:off x="548640" y="1737360"/>
            <a:ext cx="804672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DUET makes full-duplex action safe.</a:t>
            </a:r>
            <a:endParaRPr lang="en-US" sz="3600" dirty="0"/>
          </a:p>
        </p:txBody>
      </p:sp>
      <p:sp>
        <p:nvSpPr>
          <p:cNvPr id="4" name="Shape 2"/>
          <p:cNvSpPr/>
          <p:nvPr/>
        </p:nvSpPr>
        <p:spPr>
          <a:xfrm>
            <a:off x="548640" y="3063240"/>
            <a:ext cx="2377440" cy="237744"/>
          </a:xfrm>
          <a:prstGeom prst="roundRect">
            <a:avLst>
              <a:gd name="adj" fmla="val 23077"/>
            </a:avLst>
          </a:prstGeom>
          <a:solidFill>
            <a:srgbClr val="FFFFFF">
              <a:alpha val="0"/>
            </a:srgbClr>
          </a:solidFill>
          <a:ln w="22225">
            <a:solidFill>
              <a:srgbClr val="D8472C"/>
            </a:solidFill>
            <a:prstDash val="dash"/>
          </a:ln>
        </p:spPr>
      </p:sp>
      <p:sp>
        <p:nvSpPr>
          <p:cNvPr id="5" name="Text 3"/>
          <p:cNvSpPr txBox="1"/>
          <p:nvPr/>
        </p:nvSpPr>
        <p:spPr>
          <a:xfrm>
            <a:off x="603504" y="3063240"/>
            <a:ext cx="2377440" cy="237744"/>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  stale work: cancelled</a:t>
            </a:r>
            <a:endParaRPr lang="en-US" sz="950" dirty="0"/>
          </a:p>
        </p:txBody>
      </p:sp>
      <p:sp>
        <p:nvSpPr>
          <p:cNvPr id="6" name="Shape 4"/>
          <p:cNvSpPr/>
          <p:nvPr/>
        </p:nvSpPr>
        <p:spPr>
          <a:xfrm>
            <a:off x="3063240" y="3063240"/>
            <a:ext cx="2377440" cy="237744"/>
          </a:xfrm>
          <a:prstGeom prst="roundRect">
            <a:avLst>
              <a:gd name="adj" fmla="val 23077"/>
            </a:avLst>
          </a:prstGeom>
          <a:solidFill>
            <a:srgbClr val="FFFFFF">
              <a:alpha val="0"/>
            </a:srgbClr>
          </a:solidFill>
          <a:ln w="22225">
            <a:solidFill>
              <a:srgbClr val="E9A23B"/>
            </a:solidFill>
            <a:prstDash val="dash"/>
          </a:ln>
        </p:spPr>
      </p:sp>
      <p:sp>
        <p:nvSpPr>
          <p:cNvPr id="7" name="Text 5"/>
          <p:cNvSpPr txBox="1"/>
          <p:nvPr/>
        </p:nvSpPr>
        <p:spPr>
          <a:xfrm>
            <a:off x="3118104" y="3063240"/>
            <a:ext cx="2377440" cy="237744"/>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  irreversible: held, then once</a:t>
            </a:r>
            <a:endParaRPr lang="en-US" sz="950" dirty="0"/>
          </a:p>
        </p:txBody>
      </p:sp>
      <p:sp>
        <p:nvSpPr>
          <p:cNvPr id="8" name="Shape 6"/>
          <p:cNvSpPr/>
          <p:nvPr/>
        </p:nvSpPr>
        <p:spPr>
          <a:xfrm>
            <a:off x="5577840" y="3063240"/>
            <a:ext cx="2651760" cy="237744"/>
          </a:xfrm>
          <a:prstGeom prst="roundRect">
            <a:avLst>
              <a:gd name="adj" fmla="val 23077"/>
            </a:avLst>
          </a:prstGeom>
          <a:solidFill>
            <a:srgbClr val="2A9D8F"/>
          </a:solidFill>
          <a:ln w="12700">
            <a:solidFill>
              <a:srgbClr val="2A9D8F"/>
            </a:solidFill>
            <a:prstDash val="solid"/>
          </a:ln>
        </p:spPr>
      </p:sp>
      <p:sp>
        <p:nvSpPr>
          <p:cNvPr id="9" name="Text 7"/>
          <p:cNvSpPr txBox="1"/>
          <p:nvPr/>
        </p:nvSpPr>
        <p:spPr>
          <a:xfrm>
            <a:off x="5632704" y="3063240"/>
            <a:ext cx="2651760" cy="237744"/>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  the answer: grounded</a:t>
            </a:r>
            <a:endParaRPr lang="en-US" sz="950" dirty="0"/>
          </a:p>
        </p:txBody>
      </p:sp>
      <p:sp>
        <p:nvSpPr>
          <p:cNvPr id="10" name="Text 8"/>
          <p:cNvSpPr txBox="1"/>
          <p:nvPr/>
        </p:nvSpPr>
        <p:spPr>
          <a:xfrm>
            <a:off x="548640" y="4160520"/>
            <a:ext cx="8046720" cy="365760"/>
          </a:xfrm>
          <a:prstGeom prst="rect">
            <a:avLst/>
          </a:prstGeom>
          <a:noFill/>
          <a:ln/>
        </p:spPr>
        <p:txBody>
          <a:bodyPr wrap="square" lIns="0" tIns="0" rIns="0" bIns="0" rtlCol="0" anchor="t"/>
          <a:lstStyle/>
          <a:p>
            <a:pPr algn="l" indent="0" marL="0">
              <a:buNone/>
            </a:pPr>
            <a:r>
              <a:rPr lang="en-US" sz="1200" dirty="0">
                <a:solidFill>
                  <a:srgbClr val="C9D3E3"/>
                </a:solidFill>
                <a:latin typeface="Calibri" pitchFamily="34" charset="0"/>
                <a:ea typeface="Calibri" pitchFamily="34" charset="-122"/>
                <a:cs typeface="Calibri" pitchFamily="34" charset="-120"/>
              </a:rPr>
              <a:t>Team SE7EN  ·  SRM  ·  entry point agent.agent:ParticipantAgent  ·  README.md reproduces every number</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DUET - making voice agents safe to interrupt</dc:title>
  <dc:subject>PptxGenJS Presentation</dc:subject>
  <dc:creator>Team SE7EN, SRM</dc:creator>
  <cp:lastModifiedBy>Team SE7EN, SRM</cp:lastModifiedBy>
  <cp:revision>1</cp:revision>
  <dcterms:created xsi:type="dcterms:W3CDTF">2026-09-22T09:35:42Z</dcterms:created>
  <dcterms:modified xsi:type="dcterms:W3CDTF">2026-09-22T09:35:42Z</dcterms:modified>
</cp:coreProperties>
</file>