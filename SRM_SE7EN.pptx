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FB0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SAMSUNG PRISM GENAI HACKATHON 2026-27  ·  THEME 05  ·  INTERRUPTIBLE REAL-TIME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spc="6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full-duplex voice agent that acts on what you mean,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on what you said first.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31546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154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PLANS EARLY  ·  COMMITS LATE  ·  ACTS ONCE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35240" y="96012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A125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0" y="1143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FDB-V3 · ALL 100 REAL RECORDINGS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0" y="1371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0.81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9829800" y="15727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Pass@1, strict: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tool, every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argument, no extras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98280" y="2578608"/>
            <a:ext cx="176479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2578608"/>
            <a:ext cx="1429482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36224" y="2542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GPT-Realtime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98280" y="2871216"/>
            <a:ext cx="176479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2871216"/>
            <a:ext cx="1058875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36224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0.60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0" y="31272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Live 3.1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3163824"/>
            <a:ext cx="176479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3163824"/>
            <a:ext cx="952988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36224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0.54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3401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Baselines: FDB-v3 paper. DUET: our reported run.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HEAR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4526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word advances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epoch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24328" y="463600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880360" y="4114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4495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WAIT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44952" y="4526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closed and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quiet for a hold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64608" y="463600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20640" y="4114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CHECK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85232" y="4526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plan made on changed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 is dropped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04888" y="463600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60920" y="4114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551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ACT ONCE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25512" y="4526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ledger never runs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action twice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45168" y="4636008"/>
            <a:ext cx="237744" cy="91"/>
          </a:xfrm>
          <a:prstGeom prst="line">
            <a:avLst/>
          </a:prstGeom>
          <a:noFill/>
          <a:ln w="15875">
            <a:solidFill>
              <a:srgbClr val="9FB0F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01200" y="41148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C33B5"/>
          </a:solidFill>
          <a:ln w="12700">
            <a:solidFill>
              <a:srgbClr val="3650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65792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ANSWER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765792" y="4526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spoken from the 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results, never guessed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5486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SE7EN</a:t>
            </a:r>
            <a:pPr indent="0" marL="0">
              <a:buNone/>
            </a:pPr>
            <a:r>
              <a:rPr lang="en-US" sz="1300" dirty="0">
                <a:solidFill>
                  <a:srgbClr val="D5D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SRM Institute of Science and Technology   ·   SRM_SE7EN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5815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Tanmay Singh  ·  Pranjal  ·  Naman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2179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4 26B-A4B · LiveKit Agents · faster-whisper · Kokoro-82M · one command to reproduce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62179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PROBLEM, IN OUR WORDS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failure isn't hearing the correction. It's acting before it arrives.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Full-Duplex-Bench recording (travel_19), with the times from DUET's own trace of the reported run.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7772400" cy="3401568"/>
          </a:xfrm>
          <a:prstGeom prst="roundRect">
            <a:avLst>
              <a:gd name="adj" fmla="val 2688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4645152"/>
            <a:ext cx="5852160" cy="0"/>
          </a:xfrm>
          <a:prstGeom prst="line">
            <a:avLst/>
          </a:prstGeom>
          <a:noFill/>
          <a:ln w="12700">
            <a:solidFill>
              <a:srgbClr val="D9D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2539" y="1783080"/>
            <a:ext cx="0" cy="2862072"/>
          </a:xfrm>
          <a:prstGeom prst="line">
            <a:avLst/>
          </a:prstGeom>
          <a:noFill/>
          <a:ln w="9525">
            <a:solidFill>
              <a:srgbClr val="E7EBF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668219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2971" y="1783080"/>
            <a:ext cx="0" cy="2862072"/>
          </a:xfrm>
          <a:prstGeom prst="line">
            <a:avLst/>
          </a:prstGeom>
          <a:noFill/>
          <a:ln w="9525">
            <a:solidFill>
              <a:srgbClr val="E7EBF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838651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83403" y="1783080"/>
            <a:ext cx="0" cy="2862072"/>
          </a:xfrm>
          <a:prstGeom prst="line">
            <a:avLst/>
          </a:prstGeom>
          <a:noFill/>
          <a:ln w="9525">
            <a:solidFill>
              <a:srgbClr val="E7EBF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09083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53835" y="1783080"/>
            <a:ext cx="0" cy="2862072"/>
          </a:xfrm>
          <a:prstGeom prst="line">
            <a:avLst/>
          </a:prstGeom>
          <a:noFill/>
          <a:ln w="9525">
            <a:solidFill>
              <a:srgbClr val="E7EBF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79515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24267" y="1783080"/>
            <a:ext cx="0" cy="2862072"/>
          </a:xfrm>
          <a:prstGeom prst="line">
            <a:avLst/>
          </a:prstGeom>
          <a:noFill/>
          <a:ln w="9525">
            <a:solidFill>
              <a:srgbClr val="E7EBF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349947" y="4681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user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Acting on every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closed turn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675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74366" y="1901952"/>
            <a:ext cx="655442" cy="237744"/>
          </a:xfrm>
          <a:prstGeom prst="roundRect">
            <a:avLst>
              <a:gd name="adj" fmla="val 19231"/>
            </a:avLst>
          </a:prstGeom>
          <a:solidFill>
            <a:srgbClr val="E6EBFA"/>
          </a:solidFill>
          <a:ln w="9525">
            <a:solidFill>
              <a:srgbClr val="142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8646" y="2176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…flights to Rome.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70260" y="1901952"/>
            <a:ext cx="772485" cy="237744"/>
          </a:xfrm>
          <a:prstGeom prst="roundRect">
            <a:avLst>
              <a:gd name="adj" fmla="val 19231"/>
            </a:avLst>
          </a:prstGeom>
          <a:solidFill>
            <a:srgbClr val="E6EBFA"/>
          </a:solidFill>
          <a:ln w="9525">
            <a:solidFill>
              <a:srgbClr val="142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4540" y="2395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No, wait… Milan instead.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6832" y="1901952"/>
            <a:ext cx="468173" cy="237744"/>
          </a:xfrm>
          <a:prstGeom prst="roundRect">
            <a:avLst>
              <a:gd name="adj" fmla="val 19231"/>
            </a:avLst>
          </a:prstGeom>
          <a:solidFill>
            <a:srgbClr val="E6EBFA"/>
          </a:solidFill>
          <a:ln w="9525">
            <a:solidFill>
              <a:srgbClr val="142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1112" y="2176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…June 1st.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08865" y="1901952"/>
            <a:ext cx="1029980" cy="237744"/>
          </a:xfrm>
          <a:prstGeom prst="roundRect">
            <a:avLst>
              <a:gd name="adj" fmla="val 19231"/>
            </a:avLst>
          </a:prstGeom>
          <a:solidFill>
            <a:srgbClr val="E6EBFA"/>
          </a:solidFill>
          <a:ln w="9525">
            <a:solidFill>
              <a:srgbClr val="142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3145" y="2395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Well, wait… actually June 3rd.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55888" y="1901952"/>
            <a:ext cx="257495" cy="237744"/>
          </a:xfrm>
          <a:prstGeom prst="roundRect">
            <a:avLst>
              <a:gd name="adj" fmla="val 19231"/>
            </a:avLst>
          </a:prstGeom>
          <a:solidFill>
            <a:srgbClr val="E6EBFA"/>
          </a:solidFill>
          <a:ln w="9525">
            <a:solidFill>
              <a:srgbClr val="1428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0168" y="2176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Sorry.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1448" y="2734056"/>
            <a:ext cx="128016" cy="128016"/>
          </a:xfrm>
          <a:prstGeom prst="ellipse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5184" y="26791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search_flights(Milan, June 1)  ✗ stale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66419" y="3026664"/>
            <a:ext cx="128016" cy="128016"/>
          </a:xfrm>
          <a:prstGeom prst="ellipse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0155" y="2971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search_flights(Milan, June 3)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80732" y="32461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7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calls: the extra, stale one fails the item under strict Pass@1.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82392" y="3785616"/>
            <a:ext cx="128016" cy="128016"/>
          </a:xfrm>
          <a:prstGeom prst="ellipse">
            <a:avLst/>
          </a:prstGeom>
          <a:solidFill>
            <a:srgbClr val="8791A5"/>
          </a:solidFill>
          <a:ln w="12700">
            <a:solidFill>
              <a:srgbClr val="8791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6767" y="3785616"/>
            <a:ext cx="128016" cy="128016"/>
          </a:xfrm>
          <a:prstGeom prst="ellipse">
            <a:avLst/>
          </a:prstGeom>
          <a:solidFill>
            <a:srgbClr val="8791A5"/>
          </a:solidFill>
          <a:ln w="12700">
            <a:solidFill>
              <a:srgbClr val="8791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606" y="39867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dropped: new words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30427" y="3794760"/>
            <a:ext cx="1116592" cy="109728"/>
          </a:xfrm>
          <a:prstGeom prst="rect">
            <a:avLst/>
          </a:prstGeom>
          <a:solidFill>
            <a:srgbClr val="EEEAFB"/>
          </a:solidFill>
          <a:ln w="9525">
            <a:solidFill>
              <a:srgbClr val="5B3F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9297" y="39867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plans on the final words (4.8 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47103" y="3511296"/>
            <a:ext cx="109728" cy="1097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047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“One moment.”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64723" y="3767328"/>
            <a:ext cx="164592" cy="164592"/>
          </a:xfrm>
          <a:prstGeom prst="ellipse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9579" y="42245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search_flights(Milan, June 3)  ✓ once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spoken answer followed at 38 s: “a flight to Milan on June 3rd for 450 dollars.”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503920" y="1627632"/>
            <a:ext cx="3182112" cy="3401568"/>
          </a:xfrm>
          <a:prstGeom prst="roundRect">
            <a:avLst>
              <a:gd name="adj" fmla="val 287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1755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SELF-CORRECTION ITEMS · PASS@1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86800" y="21031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86800" y="2340864"/>
            <a:ext cx="224028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0" y="2340864"/>
            <a:ext cx="1971446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91088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686800" y="27066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GPT-Realtime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686800" y="2944368"/>
            <a:ext cx="224028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2944368"/>
            <a:ext cx="1317285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91088" y="28895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0.59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86800" y="3310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Live 3.1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686800" y="3547872"/>
            <a:ext cx="224028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547872"/>
            <a:ext cx="790819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91088" y="3493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0.35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686800" y="39136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Whisper→GPT-4o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686800" y="4151376"/>
            <a:ext cx="2240280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4151376"/>
            <a:ext cx="394289" cy="182880"/>
          </a:xfrm>
          <a:prstGeom prst="rect">
            <a:avLst/>
          </a:prstGeom>
          <a:solidFill>
            <a:srgbClr val="B3BCCC"/>
          </a:solidFill>
          <a:ln w="12700">
            <a:solidFill>
              <a:srgbClr val="B3B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991088" y="4096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0.18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686800" y="4526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DUET: 15 of 17 items in our run. Baselines: the FDB-v3 paper. The paper names the cause: “models commit intermediate parameters before the correction arrives.”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02920" y="5193792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" y="5303520"/>
            <a:ext cx="54864" cy="8778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" y="53035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STAY RESPONSIVE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04088" y="5596128"/>
            <a:ext cx="3300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“One moment.” as soon as the user is clearly done and the thinker is still working. Every one of the 100 conversations answered.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279392" y="5193792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79392" y="5303520"/>
            <a:ext cx="54864" cy="877824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53035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ASYNCHRONOUSLY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480560" y="5596128"/>
            <a:ext cx="3300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recognition, synthesis, model calls and tools all run off the audio loop. The user can talk over the agent at any time.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055864" y="5193792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55864" y="5303520"/>
            <a:ext cx="54864" cy="877824"/>
          </a:xfrm>
          <a:prstGeom prst="rect">
            <a:avLst/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57032" y="53035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RECOVER CLEANLY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8257032" y="5596128"/>
            <a:ext cx="3300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plan built on words the user has changed never runs; an action never runs twice. 0% interruptions in the reported run.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SOLUTION AND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minds and a referee: every action leaves through one guarded exit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decides what should happen. Deterministic code decides whether, and when, it may happen.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1325880" cy="3383280"/>
          </a:xfrm>
          <a:prstGeom prst="roundRect">
            <a:avLst>
              <a:gd name="adj" fmla="val 6897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LIVEKIT</a:t>
            </a:r>
            <a:endParaRPr lang="en-US" sz="1200" dirty="0"/>
          </a:p>
          <a:p>
            <a:pPr indent="0" marL="0">
              <a:buNone/>
            </a:pPr>
            <a:r>
              <a:rPr lang="en-US" sz="1200" spc="200" kern="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1097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WebRTC audio, both ways.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benchmark's runner, or a Galaxy phone, on the other side.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1783080"/>
            <a:ext cx="2057400" cy="1325880"/>
          </a:xfrm>
          <a:prstGeom prst="roundRect">
            <a:avLst>
              <a:gd name="adj" fmla="val 689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96312" y="18928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EARS · local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96312" y="21945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Silero VAD → faster-whisper large-v3-turbo (GPU)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LiveKit turn detector: has the turn ended?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4920" y="1783080"/>
            <a:ext cx="2194560" cy="3383280"/>
          </a:xfrm>
          <a:prstGeom prst="roundRect">
            <a:avLst>
              <a:gd name="adj" fmla="val 4167"/>
            </a:avLst>
          </a:prstGeom>
          <a:solidFill>
            <a:srgbClr val="EEF2FF"/>
          </a:solidFill>
          <a:ln w="25400">
            <a:solidFill>
              <a:srgbClr val="1428A0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COORDINATOR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23317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words void every older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299008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Commit 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action until the turn has closed and the user is quiet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364845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Idempotency ledger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action never runs twice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430682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policy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retried once, writes never re-sent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178308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19872" y="1892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THINKER · Gemma 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19872" y="21945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everything said since its last spoken answer, plans the tool calls, speaks once with the results.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241280" y="1783080"/>
            <a:ext cx="1444752" cy="1325880"/>
          </a:xfrm>
          <a:prstGeom prst="roundRect">
            <a:avLst>
              <a:gd name="adj" fmla="val 6897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87584" y="18928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GOOGLE API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87584" y="219456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gemma-4-26b-a4b-it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pool · token budget · backup requests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31720" y="3840480"/>
            <a:ext cx="2057400" cy="1325880"/>
          </a:xfrm>
          <a:prstGeom prst="roundRect">
            <a:avLst>
              <a:gd name="adj" fmla="val 689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96312" y="3950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496312" y="4251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benchmark's 12 APIs (its own mock, unmodified), or the phone's tools in DUET for Galaxy.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55280" y="384048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19872" y="3950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· local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19872" y="42519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voice: “One moment.” after 1.6 s of quiet; never a value or a result.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Kokoro-82M speech (GPU).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241280" y="3840480"/>
            <a:ext cx="1444752" cy="1325880"/>
          </a:xfrm>
          <a:prstGeom prst="roundRect">
            <a:avLst>
              <a:gd name="adj" fmla="val 6897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87584" y="39502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ONE GPU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387584" y="425196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models only: 2.9 GB at peak, of Samsung's 48 GB. The language model runs at Google.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0" y="2441448"/>
            <a:ext cx="50292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847088" y="2057400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89120" y="2441448"/>
            <a:ext cx="68580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407408" y="203911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 ·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closed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69480" y="2240280"/>
            <a:ext cx="685800" cy="91"/>
          </a:xfrm>
          <a:prstGeom prst="line">
            <a:avLst/>
          </a:prstGeom>
          <a:noFill/>
          <a:ln w="19050">
            <a:solidFill>
              <a:srgbClr val="5B3FC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287768" y="183794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 flipH="1">
            <a:off x="7269480" y="2697480"/>
            <a:ext cx="685800" cy="91"/>
          </a:xfrm>
          <a:prstGeom prst="line">
            <a:avLst/>
          </a:prstGeom>
          <a:noFill/>
          <a:ln w="19050">
            <a:solidFill>
              <a:srgbClr val="5B3FC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287768" y="273405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921240" y="2441448"/>
            <a:ext cx="32004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headEnd type="triangle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4389120" y="4297680"/>
            <a:ext cx="685800" cy="91"/>
          </a:xfrm>
          <a:prstGeom prst="line">
            <a:avLst/>
          </a:prstGeom>
          <a:noFill/>
          <a:ln w="19050">
            <a:solidFill>
              <a:srgbClr val="13804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407408" y="389534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8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38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call, once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89120" y="4754880"/>
            <a:ext cx="685800" cy="91"/>
          </a:xfrm>
          <a:prstGeom prst="line">
            <a:avLst/>
          </a:prstGeom>
          <a:noFill/>
          <a:ln w="19050">
            <a:solidFill>
              <a:srgbClr val="13804F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407408" y="4791456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38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69480" y="4498848"/>
            <a:ext cx="685800" cy="91"/>
          </a:xfrm>
          <a:prstGeom prst="line">
            <a:avLst/>
          </a:prstGeom>
          <a:noFill/>
          <a:ln w="19050">
            <a:solidFill>
              <a:srgbClr val="B8680A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287768" y="409651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68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68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wait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595360" y="3108960"/>
            <a:ext cx="91" cy="731520"/>
          </a:xfrm>
          <a:prstGeom prst="line">
            <a:avLst/>
          </a:prstGeom>
          <a:noFill/>
          <a:ln w="19050">
            <a:solidFill>
              <a:srgbClr val="5B3FC4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8686800" y="323697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answer, with the facts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418320" y="5166360"/>
            <a:ext cx="91" cy="274320"/>
          </a:xfrm>
          <a:prstGeom prst="line">
            <a:avLst/>
          </a:prstGeom>
          <a:noFill/>
          <a:ln w="19050">
            <a:solidFill>
              <a:srgbClr val="8791A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1188720" y="5440680"/>
            <a:ext cx="8229600" cy="91"/>
          </a:xfrm>
          <a:prstGeom prst="line">
            <a:avLst/>
          </a:prstGeom>
          <a:noFill/>
          <a:ln w="19050">
            <a:solidFill>
              <a:srgbClr val="8791A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188720" y="5166360"/>
            <a:ext cx="91" cy="274320"/>
          </a:xfrm>
          <a:prstGeom prst="line">
            <a:avLst/>
          </a:prstGeom>
          <a:noFill/>
          <a:ln w="19050">
            <a:solidFill>
              <a:srgbClr val="8791A5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4206240" y="52212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audio out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tool call in the benchmark and on the phone takes this one path, so the same guarantees hold everywhere: a correction always wins, and nothing is done twice.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INNOVATION: THE COORDINATOR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Plans early, commits late, acts once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proposed action travels a small state machine. Only the path to Done ever touches the outside world.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6812280" cy="3886200"/>
          </a:xfrm>
          <a:prstGeom prst="roundRect">
            <a:avLst>
              <a:gd name="adj" fmla="val 2353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011680"/>
            <a:ext cx="1417320" cy="713232"/>
          </a:xfrm>
          <a:prstGeom prst="roundRect">
            <a:avLst>
              <a:gd name="adj" fmla="val 12821"/>
            </a:avLst>
          </a:prstGeom>
          <a:solidFill>
            <a:srgbClr val="E6EBFA"/>
          </a:solidFill>
          <a:ln w="19050">
            <a:solidFill>
              <a:srgbClr val="142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84832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591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thinker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01168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EEEAFB"/>
          </a:solidFill>
          <a:ln w="19050">
            <a:solidFill>
              <a:srgbClr val="5B3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08483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3591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commit gate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0" y="201168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E9EDF5"/>
          </a:solidFill>
          <a:ln w="19050">
            <a:solidFill>
              <a:srgbClr val="0F1C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08483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Ledger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359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this exact call?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97880" y="2011680"/>
            <a:ext cx="1234440" cy="713232"/>
          </a:xfrm>
          <a:prstGeom prst="roundRect">
            <a:avLst>
              <a:gd name="adj" fmla="val 12821"/>
            </a:avLst>
          </a:prstGeom>
          <a:solidFill>
            <a:srgbClr val="FCF1E1"/>
          </a:solidFill>
          <a:ln w="19050">
            <a:solidFill>
              <a:srgbClr val="B868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208483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23591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 once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48840" y="2368296"/>
            <a:ext cx="36576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840480" y="2368296"/>
            <a:ext cx="36576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77840" y="2368296"/>
            <a:ext cx="320040" cy="91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01168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3F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waits while the user speaks, or while words may still arrive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77440" y="3246120"/>
            <a:ext cx="1600200" cy="713232"/>
          </a:xfrm>
          <a:prstGeom prst="roundRect">
            <a:avLst>
              <a:gd name="adj" fmla="val 12821"/>
            </a:avLst>
          </a:prstGeom>
          <a:solidFill>
            <a:srgbClr val="FBE9E9"/>
          </a:solidFill>
          <a:ln w="19050">
            <a:solidFill>
              <a:srgbClr val="C7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331927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Dropped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5935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words since the plan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72968" y="3136392"/>
            <a:ext cx="91" cy="109728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14800" y="3246120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EEEAFB"/>
          </a:solidFill>
          <a:ln w="19050">
            <a:solidFill>
              <a:srgbClr val="5B3F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28" y="331927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repeated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35935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answered from the ledger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2724912"/>
            <a:ext cx="91" cy="521208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52160" y="324612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E4F3EA"/>
          </a:solidFill>
          <a:ln w="19050">
            <a:solidFill>
              <a:srgbClr val="1380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331927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35935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to the thinker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10528" y="2724912"/>
            <a:ext cx="91" cy="521208"/>
          </a:xfrm>
          <a:prstGeom prst="line">
            <a:avLst/>
          </a:prstGeom>
          <a:noFill/>
          <a:ln w="19050">
            <a:solidFill>
              <a:srgbClr val="4F5B7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1520" y="44348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526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read 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retried once, then the thinker is told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69080" y="44348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4526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write timed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unknown: never re-sent; the user is told and offered a human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160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can also end in: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43800" y="1627632"/>
            <a:ext cx="4142232" cy="896112"/>
          </a:xfrm>
          <a:prstGeom prst="roundRect">
            <a:avLst>
              <a:gd name="adj" fmla="val 1020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1709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Epochs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699248" y="19659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plan carries the epoch of the words it was made on. New words void it, even after the newer turn has closed. A cough brings no words: it delays an action, never cancels it.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7543800" y="2606040"/>
            <a:ext cx="4142232" cy="896112"/>
          </a:xfrm>
          <a:prstGeom prst="roundRect">
            <a:avLst>
              <a:gd name="adj" fmla="val 1020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99248" y="2688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3F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Commit gate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699248" y="29443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tool runs only after the turn closes and the user is quiet for 1.1 s; 1.8 s after a revision (“no wait”); 2.2 s when the sentence is left open (“and…”).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7543800" y="3584448"/>
            <a:ext cx="4142232" cy="896112"/>
          </a:xfrm>
          <a:prstGeom prst="roundRect">
            <a:avLst>
              <a:gd name="adj" fmla="val 1020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9248" y="3666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Idempotency ledger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699248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identical call already made in the conversation is answered from the ledger, so a booking survives a barge-in and never happens twice.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7543800" y="4562856"/>
            <a:ext cx="4142232" cy="896112"/>
          </a:xfrm>
          <a:prstGeom prst="roundRect">
            <a:avLst>
              <a:gd name="adj" fmla="val 10204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9248" y="4645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listening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99248" y="490118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order number is…”: the thinker says nothing and does nothing until the user has been quiet for 2.5 s.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502920" y="5650992"/>
            <a:ext cx="11183112" cy="658368"/>
          </a:xfrm>
          <a:prstGeom prst="round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57424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matters for Pass@1:  </a:t>
            </a:r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score is strict, so one stale or duplicated call fails the item. In the reported run, 33 model calls were abandoned mid-flight because the user's new words had already overtaken their plan.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TOOLS, TECH STACK AND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to survive someone else's machine and someone else's API key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Samsung re-runs our script; only that run counts. So every model call is defended, and every version is pinned.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4846320" cy="4663440"/>
          </a:xfrm>
          <a:prstGeom prst="roundRect">
            <a:avLst>
              <a:gd name="adj" fmla="val 1961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MODEL CALL · duet_voice/gemma_api.py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084832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848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Book the call on the key with the most room: 15,000 of Google's 16,000 input tokens a minute per key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670048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7004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Rate-limited (429): rest that key for the delay Google asks, try the next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55264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5526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Server error (500, 503, 504): retry in 0.3 to 0.7 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9EDF5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404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No answer after 6 s: send a backup to another key (at most 4 in flight); the first answer wins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425696"/>
            <a:ext cx="4389120" cy="475488"/>
          </a:xfrm>
          <a:prstGeom prst="roundRect">
            <a:avLst>
              <a:gd name="adj" fmla="val 19231"/>
            </a:avLst>
          </a:prstGeom>
          <a:solidFill>
            <a:srgbClr val="E9EDF5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256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28 s deadline per call, inside the recording's 30 s window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074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REPORTED RUN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5303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" y="5715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answered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47088" y="5303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3.3 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47088" y="5715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answer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62656" y="5303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962656" y="5715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transient errors retried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78224" y="5303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078224" y="57150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backups sent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32120" y="1627632"/>
            <a:ext cx="3246120" cy="4663440"/>
          </a:xfrm>
          <a:prstGeom prst="roundRect">
            <a:avLst>
              <a:gd name="adj" fmla="val 281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755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framework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1500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LiveKit Agents 1.8.3 (custom agent)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15000" y="27797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 model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15000" y="2980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Gemma 4 26B-A4B-it · Google API · temperature 1.0, top-p 0.95, top-k 64, seed 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15000" y="3474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Speech 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15000" y="3675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faster-whisper large-v3-turbo @ 0a363e9 · Silero VAD · LiveKit turn detector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15000" y="4169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Speech out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15000" y="4370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Kokoro-82M @ f3ff357, voice af_heart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15000" y="4864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Benchmark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15000" y="50657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Full-Duplex-Bench v3 @ 3e799c4: runner, mock tools and evaluations unmodified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15000" y="55595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Extension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15000" y="5760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Capacitor Android app · LiveKit Cloud · RPC duet.tool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961120" y="1627632"/>
            <a:ext cx="2724912" cy="4663440"/>
          </a:xfrm>
          <a:prstGeom prst="roundRect">
            <a:avLst>
              <a:gd name="adj" fmla="val 335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COMMAND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144000" y="2057400"/>
            <a:ext cx="2359152" cy="384048"/>
          </a:xfrm>
          <a:prstGeom prst="roundRect">
            <a:avLst>
              <a:gd name="adj" fmla="val 14286"/>
            </a:avLst>
          </a:prstGeom>
          <a:solidFill>
            <a:srgbClr val="F1F4FA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53728" y="2057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reproduce.sh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0" y="256032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Python 3.11 and every package from lock files (uv)</a:t>
            </a:r>
            <a:endParaRPr lang="en-US" sz="930" dirty="0"/>
          </a:p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commit, data SHA-256, LiveKit checksum pinned</a:t>
            </a:r>
            <a:endParaRPr lang="en-US" sz="930" dirty="0"/>
          </a:p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Preflight tests every key before anything runs</a:t>
            </a:r>
            <a:endParaRPr lang="en-US" sz="930" dirty="0"/>
          </a:p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runner, then the three official evaluations</a:t>
            </a:r>
            <a:endParaRPr lang="en-US" sz="930" dirty="0"/>
          </a:p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 runs the same script</a:t>
            </a:r>
            <a:endParaRPr lang="en-US" sz="930" dirty="0"/>
          </a:p>
        </p:txBody>
      </p:sp>
      <p:sp>
        <p:nvSpPr>
          <p:cNvPr id="50" name="Text 48"/>
          <p:cNvSpPr/>
          <p:nvPr/>
        </p:nvSpPr>
        <p:spPr>
          <a:xfrm>
            <a:off x="9144000" y="4617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44000" y="489204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 unit tests</a:t>
            </a:r>
            <a:endParaRPr lang="en-US" sz="930" dirty="0"/>
          </a:p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fails if any benchmark answer appears in the agent</a:t>
            </a:r>
            <a:endParaRPr lang="en-US" sz="930" dirty="0"/>
          </a:p>
          <a:p>
            <a:pPr marL="139700" indent="-139700">
              <a:spcAft>
                <a:spcPts val="400"/>
              </a:spcAft>
              <a:buSzPct val="100000"/>
              <a:buChar char="▪"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trace of every conversation; one log line per model call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Full-Duplex-Bench v3: 0.81 Pass@1 on all 100 real recordings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Streamed in real time through the benchmark's own runner; scored by its own evaluation scripts.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49808"/>
                <a:gridCol w="749808"/>
                <a:gridCol w="786384"/>
                <a:gridCol w="786384"/>
                <a:gridCol w="786384"/>
                <a:gridCol w="768096"/>
                <a:gridCol w="76809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System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Pass@1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Tool F1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Arg. acc.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Response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Turn-take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Key info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5B7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Interrupts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DUET · Gemma 4 26B-A4B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0.81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0.915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0.850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0.730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100%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14.4 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0%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GPT-Realtime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0.680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0.792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 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Live 3.1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0.817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0.588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78.0%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4.3 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Whisper → GPT-4o → TTS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0.803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0.562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804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100%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10.1 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C3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33.0%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35387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Green: best in its column. Baselines: FDB-v3 paper. Response: response quality. Key info: time to the answer's key facts.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3840480"/>
            <a:ext cx="3657600" cy="2450592"/>
          </a:xfrm>
          <a:prstGeom prst="roundRect">
            <a:avLst>
              <a:gd name="adj" fmla="val 3731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931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BY DISFLUENCY · PASS@1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6928" y="42245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start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801368" y="4261104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01368" y="4261104"/>
            <a:ext cx="1581546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4224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0.92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6928" y="45537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801368" y="4590288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01368" y="4590288"/>
            <a:ext cx="1512783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93592" y="4553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0.88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801368" y="4919472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01368" y="4919472"/>
            <a:ext cx="1426830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93592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0.83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" y="5212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Hesitation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801368" y="5248656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01368" y="5248656"/>
            <a:ext cx="1375258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93592" y="5212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0.80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" y="55412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801368" y="5577840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01368" y="5577840"/>
            <a:ext cx="1237732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93592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0.72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6928" y="5870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801368" y="5907024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801368" y="5907024"/>
            <a:ext cx="1168969" cy="18288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93592" y="5870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0.68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343400" y="3840480"/>
            <a:ext cx="3657600" cy="2450592"/>
          </a:xfrm>
          <a:prstGeom prst="roundRect">
            <a:avLst>
              <a:gd name="adj" fmla="val 3731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98848" y="3931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BY TOOLS EXPECTED · DIFFICULTY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407408" y="42245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tool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641848" y="4261104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1848" y="4261104"/>
            <a:ext cx="1512783" cy="182880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34072" y="4224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0.88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407408" y="45537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tools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641848" y="4590288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641848" y="4590288"/>
            <a:ext cx="1237732" cy="182880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34072" y="4553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0.72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407408" y="4882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tools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641848" y="4919472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641848" y="4919472"/>
            <a:ext cx="1065825" cy="182880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34072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0.62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4407408" y="5212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641848" y="5248656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641848" y="5248656"/>
            <a:ext cx="1478402" cy="182880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434072" y="5212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0.86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407408" y="55412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641848" y="5577840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641848" y="5577840"/>
            <a:ext cx="1512783" cy="182880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34072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0.88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4407408" y="5870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41848" y="5907024"/>
            <a:ext cx="1719072" cy="182880"/>
          </a:xfrm>
          <a:prstGeom prst="rect">
            <a:avLst/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641848" y="5907024"/>
            <a:ext cx="1151778" cy="182880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434072" y="5870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0.67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8183880" y="1645920"/>
            <a:ext cx="3502152" cy="4645152"/>
          </a:xfrm>
          <a:prstGeom prst="roundRect">
            <a:avLst>
              <a:gd name="adj" fmla="val 2611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339328" y="1764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25 EXACT-MATCH MISSES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339328" y="2057400"/>
            <a:ext cx="1005840" cy="237744"/>
          </a:xfrm>
          <a:prstGeom prst="rect">
            <a:avLst/>
          </a:prstGeom>
          <a:solidFill>
            <a:srgbClr val="8791A5"/>
          </a:solidFill>
          <a:ln w="12700">
            <a:solidFill>
              <a:srgbClr val="8791A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363456" y="2057400"/>
            <a:ext cx="877824" cy="237744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259568" y="2057400"/>
            <a:ext cx="365760" cy="237744"/>
          </a:xfrm>
          <a:prstGeom prst="rect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643616" y="2057400"/>
            <a:ext cx="365760" cy="237744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1027664" y="2057400"/>
            <a:ext cx="237744" cy="237744"/>
          </a:xfrm>
          <a:prstGeom prst="rect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1283696" y="2057400"/>
            <a:ext cx="237744" cy="23774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339328" y="2496312"/>
            <a:ext cx="128016" cy="128016"/>
          </a:xfrm>
          <a:prstGeom prst="rect">
            <a:avLst/>
          </a:prstGeom>
          <a:solidFill>
            <a:srgbClr val="8791A5"/>
          </a:solidFill>
          <a:ln w="12700">
            <a:solidFill>
              <a:srgbClr val="8791A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58784" y="245059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 Format only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tool and value, other wording</a:t>
            </a:r>
            <a:endParaRPr lang="en-US" sz="930" dirty="0"/>
          </a:p>
        </p:txBody>
      </p:sp>
      <p:sp>
        <p:nvSpPr>
          <p:cNvPr id="74" name="Shape 71"/>
          <p:cNvSpPr/>
          <p:nvPr/>
        </p:nvSpPr>
        <p:spPr>
          <a:xfrm>
            <a:off x="8339328" y="2926080"/>
            <a:ext cx="128016" cy="128016"/>
          </a:xfrm>
          <a:prstGeom prst="rect">
            <a:avLst/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558784" y="288036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 Heard wrong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spelled codes the recognizer misheard</a:t>
            </a:r>
            <a:endParaRPr lang="en-US" sz="930" dirty="0"/>
          </a:p>
        </p:txBody>
      </p:sp>
      <p:sp>
        <p:nvSpPr>
          <p:cNvPr id="76" name="Shape 73"/>
          <p:cNvSpPr/>
          <p:nvPr/>
        </p:nvSpPr>
        <p:spPr>
          <a:xfrm>
            <a:off x="8339328" y="3355848"/>
            <a:ext cx="128016" cy="128016"/>
          </a:xfrm>
          <a:prstGeom prst="rect">
            <a:avLst/>
          </a:prstGeom>
          <a:solidFill>
            <a:srgbClr val="C73A3A"/>
          </a:solidFill>
          <a:ln w="12700">
            <a:solidFill>
              <a:srgbClr val="C73A3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558784" y="33101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Provider stalls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answered nothing for 28 s</a:t>
            </a:r>
            <a:endParaRPr lang="en-US" sz="930" dirty="0"/>
          </a:p>
        </p:txBody>
      </p:sp>
      <p:sp>
        <p:nvSpPr>
          <p:cNvPr id="78" name="Shape 75"/>
          <p:cNvSpPr/>
          <p:nvPr/>
        </p:nvSpPr>
        <p:spPr>
          <a:xfrm>
            <a:off x="8339328" y="3785616"/>
            <a:ext cx="128016" cy="128016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558784" y="373989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Conditional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answer contradicts the mock data</a:t>
            </a:r>
            <a:endParaRPr lang="en-US" sz="930" dirty="0"/>
          </a:p>
        </p:txBody>
      </p:sp>
      <p:sp>
        <p:nvSpPr>
          <p:cNvPr id="80" name="Shape 77"/>
          <p:cNvSpPr/>
          <p:nvPr/>
        </p:nvSpPr>
        <p:spPr>
          <a:xfrm>
            <a:off x="8339328" y="4215384"/>
            <a:ext cx="128016" cy="128016"/>
          </a:xfrm>
          <a:prstGeom prst="rect">
            <a:avLst/>
          </a:prstGeom>
          <a:solidFill>
            <a:srgbClr val="4F5B73"/>
          </a:solidFill>
          <a:ln w="12700">
            <a:solidFill>
              <a:srgbClr val="4F5B7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558784" y="416966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Not passable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value never spoken, or not the one said</a:t>
            </a:r>
            <a:endParaRPr lang="en-US" sz="930" dirty="0"/>
          </a:p>
        </p:txBody>
      </p:sp>
      <p:sp>
        <p:nvSpPr>
          <p:cNvPr id="82" name="Shape 79"/>
          <p:cNvSpPr/>
          <p:nvPr/>
        </p:nvSpPr>
        <p:spPr>
          <a:xfrm>
            <a:off x="8339328" y="4645152"/>
            <a:ext cx="128016" cy="128016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558784" y="459943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Judgement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asked instead of acting</a:t>
            </a:r>
            <a:endParaRPr lang="en-US" sz="930" dirty="0"/>
          </a:p>
        </p:txBody>
      </p:sp>
      <p:sp>
        <p:nvSpPr>
          <p:cNvPr id="84" name="Text 81"/>
          <p:cNvSpPr/>
          <p:nvPr/>
        </p:nvSpPr>
        <p:spPr>
          <a:xfrm>
            <a:off x="8339328" y="5074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was scored. </a:t>
            </a:r>
            <a:pPr indent="0" marL="0"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judge was Gemma 4 standing in for gpt-4o, with the official prompts unchanged. With no judge at all, by exact match, DUET passes 75 of 100. Samsung's re-run uses gpt-4o.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USE-CASE EXTENSION: DUET FOR GALAXY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agent, coordinator and model on a Samsung phone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Android app in three modes. Real runs on Gemma 4, recorded; every phone action passes the same coordinator.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2267712" cy="4498848"/>
          </a:xfrm>
          <a:prstGeom prst="roundRect">
            <a:avLst>
              <a:gd name="adj" fmla="val 645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5000"/>
              </a:srgbClr>
            </a:outerShdw>
          </a:effectLst>
        </p:spPr>
      </p:sp>
      <p:pic>
        <p:nvPicPr>
          <p:cNvPr id="11" name="Image 0" descr="frames\correction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27632"/>
            <a:ext cx="2011680" cy="43525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88136" y="61081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8136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ASSISTANT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98648" y="1554480"/>
            <a:ext cx="2267712" cy="4498848"/>
          </a:xfrm>
          <a:prstGeom prst="roundRect">
            <a:avLst>
              <a:gd name="adj" fmla="val 645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5000"/>
              </a:srgbClr>
            </a:outerShdw>
          </a:effectLst>
        </p:spPr>
      </p:sp>
      <p:pic>
        <p:nvPicPr>
          <p:cNvPr id="15" name="Image 1" descr="frames\care_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1627632"/>
            <a:ext cx="2011680" cy="43525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83864" y="61081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3804F"/>
          </a:solidFill>
          <a:ln w="12700">
            <a:solidFill>
              <a:srgbClr val="13804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83864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294376" y="1554480"/>
            <a:ext cx="2267712" cy="4498848"/>
          </a:xfrm>
          <a:prstGeom prst="roundRect">
            <a:avLst>
              <a:gd name="adj" fmla="val 645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  <a:effectLst>
            <a:outerShdw sx="100000" sy="100000" kx="0" ky="0" algn="bl" rotWithShape="0" blurRad="101600" dist="19050" dir="5400000">
              <a:srgbClr val="1428A0">
                <a:alpha val="15000"/>
              </a:srgbClr>
            </a:outerShdw>
          </a:effectLst>
        </p:spPr>
      </p:sp>
      <p:pic>
        <p:nvPicPr>
          <p:cNvPr id="19" name="Image 2" descr="frames\drive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27632"/>
            <a:ext cx="2011680" cy="43525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879592" y="61081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B8680A"/>
          </a:solidFill>
          <a:ln w="12700">
            <a:solidFill>
              <a:srgbClr val="B8680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879592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DRIVE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772400" y="1627632"/>
            <a:ext cx="3913632" cy="4663440"/>
          </a:xfrm>
          <a:prstGeom prst="roundRect">
            <a:avLst>
              <a:gd name="adj" fmla="val 2336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955280" y="17830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ASSISTANT  </a:t>
            </a:r>
            <a:pPr indent="0" marL="0">
              <a:buNone/>
            </a:pPr>
            <a:r>
              <a:rPr lang="en-US" sz="1000" i="1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“Set an alarm for 3:30… no, set it for 4:30.”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955280" y="20848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3:30 plan never runs. One alarm, 4:30.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955280" y="25146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CARE  </a:t>
            </a:r>
            <a:pPr indent="0" marL="0">
              <a:buNone/>
            </a:pPr>
            <a:r>
              <a:rPr lang="en-US" sz="1000" i="1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“Did I take my tablet? I'll just take one now.”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955280" y="28163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checks the record and gently stops a second dose.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955280" y="32461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680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DRIVE  </a:t>
            </a:r>
            <a:pPr indent="0" marL="0">
              <a:buNone/>
            </a:pPr>
            <a:r>
              <a:rPr lang="en-US" sz="1000" i="1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“Take me to the office, no wait, home.”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955280" y="3547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home is set; the ETA text to Priya goes once.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7955280" y="581558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on the app's web build with a scripted user voice. The agent, the model and every tool call are live; the web build simulates the phone's side, which Android carries out on a Galaxy.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955280" y="4069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F5B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955280" y="4315968"/>
            <a:ext cx="3611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⇄ LiveKit Cloud ⇄ DUET agent ⇄ Gemma 4. The app shows each step live: Planned, Never ran, Done, Not repeated.</a:t>
            </a:r>
            <a:endParaRPr lang="en-US" sz="93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0F1C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Android interfaces: alarms, battery and screen readings, apps, brightness, settings, Maps, calls, messages. Simulated in the app: the SmartThings home, the medicine schedule, the car.</a:t>
            </a:r>
            <a:endParaRPr lang="en-US" sz="93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138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of 8 phone scenarios pass end to end (scripts/galaxy_check_scenarios.py).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LIMITATIONS AND WHAT'S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74375" y="292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 still lose, and where DUET goes next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limitation below is measured in the reported run; every next step is a PRISM worklet.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9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DUET  ·  Team SE7EN, SRM (SRM_SE7EN)  ·  Samsung PRISM GenAI Hackathon 2026-27  ·  Theme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6775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791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github.com/tannnmayy/DUET-SAMSUNGPRISM-HACKATHON-TEAM-SE7EN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5440680" cy="4087368"/>
          </a:xfrm>
          <a:prstGeom prst="roundRect">
            <a:avLst>
              <a:gd name="adj" fmla="val 223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73A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LIMITATIONS WE MEASURED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Latency. </a:t>
            </a:r>
            <a:pPr indent="0" marL="0">
              <a:spcAft>
                <a:spcPts val="1300"/>
              </a:spcAft>
              <a:buNone/>
            </a:pPr>
            <a:r>
              <a:rPr lang="en-US" sz="11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response 4.8 s; key information 14.4 s (GPT-Realtime: 6.9 s). A hosted model call takes 3.3 s at the median, 7.2 s at p90.</a:t>
            </a:r>
            <a:endParaRPr lang="en-US" sz="11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Provider stalls. </a:t>
            </a:r>
            <a:pPr indent="0" marL="0">
              <a:spcAft>
                <a:spcPts val="1300"/>
              </a:spcAft>
              <a:buNone/>
            </a:pPr>
            <a:r>
              <a:rPr lang="en-US" sz="11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of 100 recordings were lost to model calls Google never answered (504), despite backups on every key.</a:t>
            </a:r>
            <a:endParaRPr lang="en-US" sz="11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Hearing. </a:t>
            </a:r>
            <a:pPr indent="0" marL="0">
              <a:spcAft>
                <a:spcPts val="1300"/>
              </a:spcAft>
              <a:buNone/>
            </a:pPr>
            <a:r>
              <a:rPr lang="en-US" sz="11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Spelled-out codes are misheard (“D, E, L, bye, V” for DELIV): 7 of 100 items.</a:t>
            </a:r>
            <a:endParaRPr lang="en-US" sz="11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Response quality 0.73 </a:t>
            </a:r>
            <a:pPr indent="0" marL="0">
              <a:spcAft>
                <a:spcPts val="1300"/>
              </a:spcAft>
              <a:buNone/>
            </a:pPr>
            <a:r>
              <a:rPr lang="en-US" sz="11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(GPT-Realtime 0.79): the answers are correct but plain.</a:t>
            </a:r>
            <a:endParaRPr lang="en-US" sz="11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scoring. </a:t>
            </a:r>
            <a:pPr indent="0" marL="0">
              <a:spcAft>
                <a:spcPts val="1300"/>
              </a:spcAft>
              <a:buNone/>
            </a:pPr>
            <a:r>
              <a:rPr lang="en-US" sz="11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Gemma stand-in for the gpt-4o judge; 75 of 100 by exact match with no judge at all.</a:t>
            </a:r>
            <a:endParaRPr lang="en-US" sz="11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extension's demo </a:t>
            </a:r>
            <a:pPr indent="0" marL="0">
              <a:spcAft>
                <a:spcPts val="1300"/>
              </a:spcAft>
              <a:buNone/>
            </a:pPr>
            <a:r>
              <a:rPr lang="en-US" sz="115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app's web build; the home, medicines and car are simulated.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627632"/>
            <a:ext cx="5513832" cy="4087368"/>
          </a:xfrm>
          <a:prstGeom prst="roundRect">
            <a:avLst>
              <a:gd name="adj" fmla="val 2237"/>
            </a:avLst>
          </a:prstGeom>
          <a:solidFill>
            <a:srgbClr val="F5F7FB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1380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NEXT, AS A PRISM WORKLET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084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03720" y="20848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On-device Gemma on Galaxy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round trip and no key limits: the answer's latency drops, and the user's words never leave the phone.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355080" y="27980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03720" y="279806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 before acting on codes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Recognizer confidence per word; a low-confidence order id is read back before the tool runs.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355080" y="3511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03720" y="35112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Speculative reads, gated writes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safe lookups while the user is still talking; keep every state change behind the gate.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355080" y="4224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03720" y="422452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SmartThings and Android Auto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Care and Drive modes on real devices, with Knox-consented health reads.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355080" y="4937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03720" y="49377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F1C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metrics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Stale-action rate, duplicate-action rate and time to first feedback, measured on real users.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02920" y="5870448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E6EBFA"/>
          </a:solidFill>
          <a:ln w="12700">
            <a:solidFill>
              <a:srgbClr val="E6E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870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428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ROUND 2: INTERRUPT IT LIVE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58704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Reproduce:  </a:t>
            </a:r>
            <a:pPr indent="0" marL="0">
              <a:buNone/>
            </a:pPr>
            <a:r>
              <a:rPr lang="en-US" sz="1100" dirty="0">
                <a:solidFill>
                  <a:srgbClr val="138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reproduce.sh</a:t>
            </a:r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The app:  </a:t>
            </a:r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app/README.md</a:t>
            </a:r>
            <a:pPr indent="0" marL="0">
              <a:buNone/>
            </a:pPr>
            <a:r>
              <a:rPr lang="en-US" sz="1100" dirty="0">
                <a:solidFill>
                  <a:srgbClr val="4F5B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Every trace:  </a:t>
            </a:r>
            <a:pPr indent="0" marL="0">
              <a:buNone/>
            </a:pPr>
            <a:r>
              <a:rPr lang="en-US" sz="1100" dirty="0">
                <a:solidFill>
                  <a:srgbClr val="0F1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results/reported/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SRM Institute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DUET: a full-duplex voice agent that acts on what you mean</dc:title>
  <dc:subject>Samsung PRISM GenAI Hackathon 2026-27, Theme 05</dc:subject>
  <dc:creator>Team SE7EN (SRM)</dc:creator>
  <cp:lastModifiedBy>Team SE7EN (SRM)</cp:lastModifiedBy>
  <cp:revision>1</cp:revision>
  <dcterms:created xsi:type="dcterms:W3CDTF">2026-09-30T17:28:58Z</dcterms:created>
  <dcterms:modified xsi:type="dcterms:W3CDTF">2026-09-30T17:28:58Z</dcterms:modified>
</cp:coreProperties>
</file>